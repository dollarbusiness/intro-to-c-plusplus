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9" r:id="rId11"/>
    <p:sldId id="268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97" r:id="rId22"/>
    <p:sldId id="295" r:id="rId23"/>
    <p:sldId id="296" r:id="rId24"/>
    <p:sldId id="300" r:id="rId25"/>
    <p:sldId id="301" r:id="rId26"/>
    <p:sldId id="302" r:id="rId27"/>
    <p:sldId id="287" r:id="rId28"/>
    <p:sldId id="288" r:id="rId29"/>
    <p:sldId id="289" r:id="rId30"/>
    <p:sldId id="294" r:id="rId31"/>
    <p:sldId id="291" r:id="rId32"/>
    <p:sldId id="285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>
        <p:scale>
          <a:sx n="80" d="100"/>
          <a:sy n="80" d="100"/>
        </p:scale>
        <p:origin x="-2304" y="60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AD0EA-0CC4-454F-AF47-DBED163FFD45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B60D6-16B0-4AF8-B670-FE66DD8704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156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8E7280-AD07-4C4E-BA3E-5A14D6D673B3}" type="slidenum">
              <a:rPr lang="zh-TW" altLang="en-US"/>
              <a:pPr/>
              <a:t>1</a:t>
            </a:fld>
            <a:endParaRPr lang="en-US" altLang="zh-TW"/>
          </a:p>
        </p:txBody>
      </p:sp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90491" rIns="90491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31948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7B96A3-726C-4163-98A0-C8464DEE8185}" type="slidenum">
              <a:rPr lang="zh-TW" altLang="en-US"/>
              <a:pPr/>
              <a:t>10</a:t>
            </a:fld>
            <a:endParaRPr lang="en-US" altLang="zh-TW"/>
          </a:p>
        </p:txBody>
      </p:sp>
      <p:sp>
        <p:nvSpPr>
          <p:cNvPr id="565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30588"/>
          </a:xfrm>
          <a:ln/>
        </p:spPr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8" y="4345214"/>
            <a:ext cx="5485805" cy="4112381"/>
          </a:xfrm>
        </p:spPr>
        <p:txBody>
          <a:bodyPr/>
          <a:lstStyle/>
          <a:p>
            <a:r>
              <a:rPr lang="en-US" altLang="zh-TW" dirty="0"/>
              <a:t>Note the signature of main() – it’s an array parameter.  And, like other examples we’ve given, it takes the number of elements as a parameter.  Why?</a:t>
            </a:r>
          </a:p>
          <a:p>
            <a:endParaRPr lang="en-US" altLang="zh-TW" dirty="0"/>
          </a:p>
          <a:p>
            <a:r>
              <a:rPr lang="en-US" altLang="zh-TW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581917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F4F8D99-8822-4879-8225-C670D54F0E6E}" type="slidenum">
              <a:rPr lang="en-CA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27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xmlns="" val="1670228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CFDB74F-2E63-4EF2-92D1-08347DF970BB}" type="slidenum">
              <a:rPr lang="en-CA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28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xmlns="" val="66675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3884E8D-1402-4DA0-8780-0276AE7258FD}" type="slidenum">
              <a:rPr lang="en-CA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29</a:t>
            </a:fld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4844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55003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12766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87012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40739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6497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057319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968795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85792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875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1743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18383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2E9-FE17-42AA-8C1D-2A86E8A5B20B}" type="datetimeFigureOut">
              <a:rPr lang="en-US" smtClean="0"/>
              <a:pPr/>
              <a:t>10/28/2015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8EA8D-25A8-4958-AAE5-0792D166E1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6894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1026"/>
          <p:cNvSpPr>
            <a:spLocks noGrp="1" noChangeArrowheads="1"/>
          </p:cNvSpPr>
          <p:nvPr>
            <p:ph type="subTitle" idx="1"/>
          </p:nvPr>
        </p:nvSpPr>
        <p:spPr>
          <a:xfrm>
            <a:off x="381000" y="1295400"/>
            <a:ext cx="8382000" cy="1752600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altLang="zh-TW" sz="4400" dirty="0" smtClean="0">
              <a:solidFill>
                <a:schemeClr val="tx1"/>
              </a:solidFill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sz="4400" dirty="0" smtClean="0">
                <a:solidFill>
                  <a:schemeClr val="tx1"/>
                </a:solidFill>
                <a:ea typeface="新細明體" pitchFamily="18" charset="-120"/>
              </a:rPr>
              <a:t>Chapter 9 Pointers</a:t>
            </a:r>
            <a:endParaRPr lang="zh-TW" altLang="en-US" sz="3600" dirty="0">
              <a:solidFill>
                <a:schemeClr val="tx1"/>
              </a:solidFill>
              <a:ea typeface="新細明體" pitchFamily="18" charset="-120"/>
            </a:endParaRPr>
          </a:p>
        </p:txBody>
      </p:sp>
      <p:sp>
        <p:nvSpPr>
          <p:cNvPr id="3" name="Rectangle 1026"/>
          <p:cNvSpPr txBox="1">
            <a:spLocks noChangeArrowheads="1"/>
          </p:cNvSpPr>
          <p:nvPr/>
        </p:nvSpPr>
        <p:spPr>
          <a:xfrm>
            <a:off x="1981200" y="3733800"/>
            <a:ext cx="5410200" cy="1752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TW" sz="4000" dirty="0" smtClean="0">
                <a:solidFill>
                  <a:schemeClr val="tx1"/>
                </a:solidFill>
                <a:ea typeface="新細明體" pitchFamily="18" charset="-120"/>
              </a:rPr>
              <a:t>CMPSC125</a:t>
            </a:r>
          </a:p>
          <a:p>
            <a:pPr>
              <a:lnSpc>
                <a:spcPct val="80000"/>
              </a:lnSpc>
            </a:pPr>
            <a:r>
              <a:rPr lang="en-US" altLang="zh-TW" sz="4000" dirty="0" smtClean="0">
                <a:solidFill>
                  <a:schemeClr val="tx1"/>
                </a:solidFill>
                <a:ea typeface="新細明體" pitchFamily="18" charset="-120"/>
              </a:rPr>
              <a:t>Fall 2015</a:t>
            </a:r>
          </a:p>
        </p:txBody>
      </p:sp>
    </p:spTree>
    <p:extLst>
      <p:ext uri="{BB962C8B-B14F-4D97-AF65-F5344CB8AC3E}">
        <p14:creationId xmlns:p14="http://schemas.microsoft.com/office/powerpoint/2010/main" xmlns="" val="38825659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Computer Memory</a:t>
            </a:r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7848600" cy="4114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endParaRPr lang="en-US" altLang="zh-TW" dirty="0">
              <a:ea typeface="新細明體" pitchFamily="18" charset="-120"/>
            </a:endParaRPr>
          </a:p>
          <a:p>
            <a:r>
              <a:rPr lang="en-US" altLang="zh-TW" dirty="0" smtClean="0">
                <a:ea typeface="新細明體" pitchFamily="18" charset="-120"/>
              </a:rPr>
              <a:t>Each </a:t>
            </a:r>
            <a:r>
              <a:rPr lang="en-US" altLang="zh-TW" dirty="0">
                <a:ea typeface="新細明體" pitchFamily="18" charset="-120"/>
              </a:rPr>
              <a:t>variable is assigned a memory slot (the size depends on the data type) and the variable’s data is stored there</a:t>
            </a:r>
          </a:p>
          <a:p>
            <a:pPr>
              <a:buFont typeface="Monotype Sorts" pitchFamily="2" charset="2"/>
              <a:buNone/>
            </a:pPr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371759" name="Text Box 47"/>
          <p:cNvSpPr txBox="1">
            <a:spLocks noChangeArrowheads="1"/>
          </p:cNvSpPr>
          <p:nvPr/>
        </p:nvSpPr>
        <p:spPr bwMode="auto">
          <a:xfrm>
            <a:off x="4220168" y="5209629"/>
            <a:ext cx="411381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 dirty="0">
                <a:latin typeface="Arial" charset="0"/>
                <a:ea typeface="新細明體" pitchFamily="18" charset="-120"/>
              </a:rPr>
              <a:t>Variable </a:t>
            </a:r>
            <a:r>
              <a:rPr lang="en-US" altLang="zh-TW" sz="2000" dirty="0" smtClean="0">
                <a:latin typeface="Arial" charset="0"/>
                <a:ea typeface="新細明體" pitchFamily="18" charset="-120"/>
              </a:rPr>
              <a:t>a has value 100 which </a:t>
            </a:r>
            <a:r>
              <a:rPr lang="en-US" altLang="zh-TW" sz="2000" dirty="0">
                <a:latin typeface="Arial" charset="0"/>
                <a:ea typeface="新細明體" pitchFamily="18" charset="-120"/>
              </a:rPr>
              <a:t>is </a:t>
            </a:r>
          </a:p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 dirty="0">
                <a:latin typeface="Arial" charset="0"/>
                <a:ea typeface="新細明體" pitchFamily="18" charset="-120"/>
              </a:rPr>
              <a:t>stored at memory location 1024</a:t>
            </a:r>
          </a:p>
        </p:txBody>
      </p:sp>
      <p:sp>
        <p:nvSpPr>
          <p:cNvPr id="371762" name="Rectangle 50"/>
          <p:cNvSpPr>
            <a:spLocks noChangeArrowheads="1"/>
          </p:cNvSpPr>
          <p:nvPr/>
        </p:nvSpPr>
        <p:spPr bwMode="auto">
          <a:xfrm>
            <a:off x="3708400" y="4210050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2400" b="0">
                <a:latin typeface="Times New Roman" pitchFamily="18" charset="0"/>
                <a:ea typeface="新細明體" pitchFamily="18" charset="-120"/>
              </a:rPr>
              <a:t>100</a:t>
            </a:r>
          </a:p>
        </p:txBody>
      </p:sp>
      <p:sp>
        <p:nvSpPr>
          <p:cNvPr id="371763" name="Rectangle 51"/>
          <p:cNvSpPr>
            <a:spLocks noChangeArrowheads="1"/>
          </p:cNvSpPr>
          <p:nvPr/>
        </p:nvSpPr>
        <p:spPr bwMode="auto">
          <a:xfrm>
            <a:off x="2520950" y="4210050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371764" name="Rectangle 52"/>
          <p:cNvSpPr>
            <a:spLocks noChangeArrowheads="1"/>
          </p:cNvSpPr>
          <p:nvPr/>
        </p:nvSpPr>
        <p:spPr bwMode="auto">
          <a:xfrm>
            <a:off x="4895850" y="4210050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371765" name="Rectangle 53"/>
          <p:cNvSpPr>
            <a:spLocks noChangeArrowheads="1"/>
          </p:cNvSpPr>
          <p:nvPr/>
        </p:nvSpPr>
        <p:spPr bwMode="auto">
          <a:xfrm>
            <a:off x="6083300" y="4210050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2400" b="0" dirty="0">
                <a:latin typeface="Times New Roman" pitchFamily="18" charset="0"/>
                <a:ea typeface="新細明體" pitchFamily="18" charset="-120"/>
              </a:rPr>
              <a:t>1024</a:t>
            </a:r>
          </a:p>
        </p:txBody>
      </p:sp>
      <p:sp>
        <p:nvSpPr>
          <p:cNvPr id="371766" name="Rectangle 54"/>
          <p:cNvSpPr>
            <a:spLocks noChangeArrowheads="1"/>
          </p:cNvSpPr>
          <p:nvPr/>
        </p:nvSpPr>
        <p:spPr bwMode="auto">
          <a:xfrm>
            <a:off x="7270750" y="4210050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371767" name="Text Box 55"/>
          <p:cNvSpPr txBox="1">
            <a:spLocks noChangeArrowheads="1"/>
          </p:cNvSpPr>
          <p:nvPr/>
        </p:nvSpPr>
        <p:spPr bwMode="auto">
          <a:xfrm>
            <a:off x="228600" y="3770312"/>
            <a:ext cx="2286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>
                <a:latin typeface="Arial" charset="0"/>
                <a:ea typeface="新細明體" pitchFamily="18" charset="-120"/>
              </a:rPr>
              <a:t>Memory address:</a:t>
            </a:r>
          </a:p>
        </p:txBody>
      </p:sp>
      <p:sp>
        <p:nvSpPr>
          <p:cNvPr id="371768" name="Text Box 56"/>
          <p:cNvSpPr txBox="1">
            <a:spLocks noChangeArrowheads="1"/>
          </p:cNvSpPr>
          <p:nvPr/>
        </p:nvSpPr>
        <p:spPr bwMode="auto">
          <a:xfrm>
            <a:off x="3786188" y="3770312"/>
            <a:ext cx="973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zh-TW" altLang="en-US" sz="2000">
                <a:latin typeface="Arial" charset="0"/>
                <a:ea typeface="新細明體" pitchFamily="18" charset="-120"/>
              </a:rPr>
              <a:t>1024</a:t>
            </a:r>
          </a:p>
        </p:txBody>
      </p:sp>
      <p:sp>
        <p:nvSpPr>
          <p:cNvPr id="371769" name="Text Box 57"/>
          <p:cNvSpPr txBox="1">
            <a:spLocks noChangeArrowheads="1"/>
          </p:cNvSpPr>
          <p:nvPr/>
        </p:nvSpPr>
        <p:spPr bwMode="auto">
          <a:xfrm>
            <a:off x="6083300" y="3770312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zh-TW" altLang="en-US" sz="2000">
                <a:latin typeface="Arial" charset="0"/>
                <a:ea typeface="新細明體" pitchFamily="18" charset="-120"/>
              </a:rPr>
              <a:t>1032</a:t>
            </a:r>
          </a:p>
        </p:txBody>
      </p:sp>
      <p:sp>
        <p:nvSpPr>
          <p:cNvPr id="371770" name="Text Box 58"/>
          <p:cNvSpPr txBox="1">
            <a:spLocks noChangeArrowheads="1"/>
          </p:cNvSpPr>
          <p:nvPr/>
        </p:nvSpPr>
        <p:spPr bwMode="auto">
          <a:xfrm>
            <a:off x="1752600" y="5318125"/>
            <a:ext cx="2012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>
                <a:latin typeface="Courier New" pitchFamily="49" charset="0"/>
                <a:ea typeface="新細明體" pitchFamily="18" charset="-120"/>
              </a:rPr>
              <a:t>int a = 100;</a:t>
            </a:r>
          </a:p>
        </p:txBody>
      </p:sp>
      <p:sp>
        <p:nvSpPr>
          <p:cNvPr id="371772" name="Rectangle 60"/>
          <p:cNvSpPr>
            <a:spLocks noChangeArrowheads="1"/>
          </p:cNvSpPr>
          <p:nvPr/>
        </p:nvSpPr>
        <p:spPr bwMode="auto">
          <a:xfrm>
            <a:off x="1371600" y="4210050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371773" name="Text Box 61"/>
          <p:cNvSpPr txBox="1">
            <a:spLocks noChangeArrowheads="1"/>
          </p:cNvSpPr>
          <p:nvPr/>
        </p:nvSpPr>
        <p:spPr bwMode="auto">
          <a:xfrm>
            <a:off x="2514600" y="3770312"/>
            <a:ext cx="973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zh-TW" altLang="en-US" sz="2000">
                <a:latin typeface="Arial" charset="0"/>
                <a:ea typeface="新細明體" pitchFamily="18" charset="-120"/>
              </a:rPr>
              <a:t>1020</a:t>
            </a:r>
          </a:p>
        </p:txBody>
      </p:sp>
      <p:sp>
        <p:nvSpPr>
          <p:cNvPr id="371774" name="Text Box 62"/>
          <p:cNvSpPr txBox="1">
            <a:spLocks noChangeArrowheads="1"/>
          </p:cNvSpPr>
          <p:nvPr/>
        </p:nvSpPr>
        <p:spPr bwMode="auto">
          <a:xfrm>
            <a:off x="3946525" y="4775200"/>
            <a:ext cx="33855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xmlns="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>
                <a:latin typeface="Courier" pitchFamily="49" charset="0"/>
                <a:ea typeface="新細明體" pitchFamily="18" charset="-12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xmlns="" val="374586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Pointers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 pitchFamily="18" charset="-120"/>
              </a:rPr>
              <a:t>A pointer is a variable used to store the address of a memory cell. </a:t>
            </a:r>
          </a:p>
          <a:p>
            <a:r>
              <a:rPr lang="en-US" altLang="zh-TW" dirty="0">
                <a:ea typeface="新細明體" pitchFamily="18" charset="-120"/>
              </a:rPr>
              <a:t>We can use the pointer to reference this memory cell</a:t>
            </a:r>
          </a:p>
        </p:txBody>
      </p:sp>
      <p:sp>
        <p:nvSpPr>
          <p:cNvPr id="370692" name="Rectangle 4"/>
          <p:cNvSpPr>
            <a:spLocks noChangeArrowheads="1"/>
          </p:cNvSpPr>
          <p:nvPr/>
        </p:nvSpPr>
        <p:spPr bwMode="auto">
          <a:xfrm>
            <a:off x="4025900" y="47831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2400" b="0">
                <a:latin typeface="Times New Roman" pitchFamily="18" charset="0"/>
                <a:ea typeface="新細明體" pitchFamily="18" charset="-120"/>
              </a:rPr>
              <a:t>100</a:t>
            </a:r>
          </a:p>
        </p:txBody>
      </p:sp>
      <p:sp>
        <p:nvSpPr>
          <p:cNvPr id="370693" name="Rectangle 5"/>
          <p:cNvSpPr>
            <a:spLocks noChangeArrowheads="1"/>
          </p:cNvSpPr>
          <p:nvPr/>
        </p:nvSpPr>
        <p:spPr bwMode="auto">
          <a:xfrm>
            <a:off x="2838450" y="47831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370694" name="Rectangle 6"/>
          <p:cNvSpPr>
            <a:spLocks noChangeArrowheads="1"/>
          </p:cNvSpPr>
          <p:nvPr/>
        </p:nvSpPr>
        <p:spPr bwMode="auto">
          <a:xfrm>
            <a:off x="5213350" y="47831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370695" name="Rectangle 7"/>
          <p:cNvSpPr>
            <a:spLocks noChangeArrowheads="1"/>
          </p:cNvSpPr>
          <p:nvPr/>
        </p:nvSpPr>
        <p:spPr bwMode="auto">
          <a:xfrm>
            <a:off x="6400800" y="47831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2400" b="0">
                <a:latin typeface="Times New Roman" pitchFamily="18" charset="0"/>
                <a:ea typeface="新細明體" pitchFamily="18" charset="-120"/>
              </a:rPr>
              <a:t>1024</a:t>
            </a:r>
          </a:p>
        </p:txBody>
      </p:sp>
      <p:sp>
        <p:nvSpPr>
          <p:cNvPr id="370696" name="Rectangle 8"/>
          <p:cNvSpPr>
            <a:spLocks noChangeArrowheads="1"/>
          </p:cNvSpPr>
          <p:nvPr/>
        </p:nvSpPr>
        <p:spPr bwMode="auto">
          <a:xfrm>
            <a:off x="7588250" y="47831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370697" name="Text Box 9"/>
          <p:cNvSpPr txBox="1">
            <a:spLocks noChangeArrowheads="1"/>
          </p:cNvSpPr>
          <p:nvPr/>
        </p:nvSpPr>
        <p:spPr bwMode="auto">
          <a:xfrm>
            <a:off x="546100" y="4343400"/>
            <a:ext cx="21627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>
                <a:latin typeface="Arial" charset="0"/>
                <a:ea typeface="新細明體" pitchFamily="18" charset="-120"/>
              </a:rPr>
              <a:t>Memory address:</a:t>
            </a:r>
          </a:p>
        </p:txBody>
      </p:sp>
      <p:sp>
        <p:nvSpPr>
          <p:cNvPr id="370698" name="Text Box 10"/>
          <p:cNvSpPr txBox="1">
            <a:spLocks noChangeArrowheads="1"/>
          </p:cNvSpPr>
          <p:nvPr/>
        </p:nvSpPr>
        <p:spPr bwMode="auto">
          <a:xfrm>
            <a:off x="4103688" y="4343400"/>
            <a:ext cx="973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zh-TW" altLang="en-US" sz="2000">
                <a:latin typeface="Arial" charset="0"/>
                <a:ea typeface="新細明體" pitchFamily="18" charset="-120"/>
              </a:rPr>
              <a:t>1024</a:t>
            </a:r>
          </a:p>
        </p:txBody>
      </p:sp>
      <p:sp>
        <p:nvSpPr>
          <p:cNvPr id="370699" name="Text Box 11"/>
          <p:cNvSpPr txBox="1">
            <a:spLocks noChangeArrowheads="1"/>
          </p:cNvSpPr>
          <p:nvPr/>
        </p:nvSpPr>
        <p:spPr bwMode="auto">
          <a:xfrm>
            <a:off x="6400800" y="4343400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zh-TW" altLang="en-US" sz="2000">
                <a:latin typeface="Arial" charset="0"/>
                <a:ea typeface="新細明體" pitchFamily="18" charset="-120"/>
              </a:rPr>
              <a:t>1032</a:t>
            </a:r>
          </a:p>
        </p:txBody>
      </p:sp>
      <p:sp>
        <p:nvSpPr>
          <p:cNvPr id="370700" name="Rectangle 12"/>
          <p:cNvSpPr>
            <a:spLocks noChangeArrowheads="1"/>
          </p:cNvSpPr>
          <p:nvPr/>
        </p:nvSpPr>
        <p:spPr bwMode="auto">
          <a:xfrm>
            <a:off x="1689100" y="47831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370701" name="Text Box 13"/>
          <p:cNvSpPr txBox="1">
            <a:spLocks noChangeArrowheads="1"/>
          </p:cNvSpPr>
          <p:nvPr/>
        </p:nvSpPr>
        <p:spPr bwMode="auto">
          <a:xfrm>
            <a:off x="2832100" y="4343400"/>
            <a:ext cx="973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zh-TW" altLang="en-US" sz="2000">
                <a:latin typeface="Arial" charset="0"/>
                <a:ea typeface="新細明體" pitchFamily="18" charset="-120"/>
              </a:rPr>
              <a:t>1020</a:t>
            </a:r>
          </a:p>
        </p:txBody>
      </p:sp>
      <p:sp>
        <p:nvSpPr>
          <p:cNvPr id="370703" name="Line 15"/>
          <p:cNvSpPr>
            <a:spLocks noChangeShapeType="1"/>
          </p:cNvSpPr>
          <p:nvPr/>
        </p:nvSpPr>
        <p:spPr bwMode="auto">
          <a:xfrm flipV="1">
            <a:off x="4648200" y="5410200"/>
            <a:ext cx="0" cy="457200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704" name="Line 16"/>
          <p:cNvSpPr>
            <a:spLocks noChangeShapeType="1"/>
          </p:cNvSpPr>
          <p:nvPr/>
        </p:nvSpPr>
        <p:spPr bwMode="auto">
          <a:xfrm>
            <a:off x="4648200" y="5867400"/>
            <a:ext cx="2362200" cy="0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705" name="Line 17"/>
          <p:cNvSpPr>
            <a:spLocks noChangeShapeType="1"/>
          </p:cNvSpPr>
          <p:nvPr/>
        </p:nvSpPr>
        <p:spPr bwMode="auto">
          <a:xfrm>
            <a:off x="7010400" y="5410200"/>
            <a:ext cx="0" cy="457200"/>
          </a:xfrm>
          <a:prstGeom prst="line">
            <a:avLst/>
          </a:prstGeom>
          <a:noFill/>
          <a:ln w="31750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706" name="AutoShape 18"/>
          <p:cNvSpPr>
            <a:spLocks noChangeArrowheads="1"/>
          </p:cNvSpPr>
          <p:nvPr/>
        </p:nvSpPr>
        <p:spPr bwMode="auto">
          <a:xfrm>
            <a:off x="2514600" y="5562600"/>
            <a:ext cx="1524000" cy="609600"/>
          </a:xfrm>
          <a:prstGeom prst="wedgeEllipseCallout">
            <a:avLst>
              <a:gd name="adj1" fmla="val 90208"/>
              <a:gd name="adj2" fmla="val -101042"/>
            </a:avLst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ctr">
              <a:buFont typeface="Monotype Sorts" pitchFamily="2" charset="2"/>
              <a:buNone/>
            </a:pPr>
            <a:r>
              <a:rPr lang="en-US" altLang="zh-TW">
                <a:solidFill>
                  <a:srgbClr val="3366CC"/>
                </a:solidFill>
                <a:ea typeface="新細明體" pitchFamily="18" charset="-120"/>
              </a:rPr>
              <a:t>integer</a:t>
            </a:r>
          </a:p>
        </p:txBody>
      </p:sp>
      <p:sp>
        <p:nvSpPr>
          <p:cNvPr id="370707" name="AutoShape 19"/>
          <p:cNvSpPr>
            <a:spLocks noChangeArrowheads="1"/>
          </p:cNvSpPr>
          <p:nvPr/>
        </p:nvSpPr>
        <p:spPr bwMode="auto">
          <a:xfrm>
            <a:off x="6477000" y="5715000"/>
            <a:ext cx="2209800" cy="533400"/>
          </a:xfrm>
          <a:prstGeom prst="wedgeEllipseCallout">
            <a:avLst>
              <a:gd name="adj1" fmla="val -19398"/>
              <a:gd name="adj2" fmla="val -130954"/>
            </a:avLst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ctr">
              <a:buFont typeface="Monotype Sorts" pitchFamily="2" charset="2"/>
              <a:buNone/>
            </a:pPr>
            <a:r>
              <a:rPr lang="en-US" altLang="zh-TW">
                <a:solidFill>
                  <a:srgbClr val="3366CC"/>
                </a:solidFill>
                <a:ea typeface="新細明體" pitchFamily="18" charset="-120"/>
              </a:rPr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xmlns="" val="3200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Pointer Types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46237"/>
            <a:ext cx="8458200" cy="45259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ea typeface="新細明體" pitchFamily="18" charset="-120"/>
              </a:rPr>
              <a:t>Pointer</a:t>
            </a:r>
          </a:p>
          <a:p>
            <a:pPr lvl="1"/>
            <a:r>
              <a:rPr lang="en-US" altLang="zh-TW" sz="3200" dirty="0">
                <a:ea typeface="新細明體" pitchFamily="18" charset="-120"/>
              </a:rPr>
              <a:t>C++  has pointer types for each type of object</a:t>
            </a:r>
          </a:p>
          <a:p>
            <a:pPr lvl="2"/>
            <a:r>
              <a:rPr lang="en-US" altLang="zh-TW" sz="2800" dirty="0">
                <a:ea typeface="新細明體" pitchFamily="18" charset="-120"/>
              </a:rPr>
              <a:t>Pointers to </a:t>
            </a:r>
            <a:r>
              <a:rPr lang="en-US" altLang="zh-TW" sz="2800" dirty="0" err="1">
                <a:latin typeface="Courier New" pitchFamily="49" charset="0"/>
                <a:ea typeface="新細明體" pitchFamily="18" charset="-120"/>
              </a:rPr>
              <a:t>int</a:t>
            </a:r>
            <a:r>
              <a:rPr lang="en-US" altLang="zh-TW" sz="2800" dirty="0">
                <a:ea typeface="新細明體" pitchFamily="18" charset="-120"/>
              </a:rPr>
              <a:t> objects</a:t>
            </a:r>
          </a:p>
          <a:p>
            <a:pPr lvl="2"/>
            <a:r>
              <a:rPr lang="en-US" altLang="zh-TW" sz="2800" dirty="0">
                <a:ea typeface="新細明體" pitchFamily="18" charset="-120"/>
              </a:rPr>
              <a:t>Pointers to </a:t>
            </a:r>
            <a:r>
              <a:rPr lang="en-US" altLang="zh-TW" sz="2800" dirty="0">
                <a:latin typeface="Courier New" pitchFamily="49" charset="0"/>
                <a:ea typeface="新細明體" pitchFamily="18" charset="-120"/>
              </a:rPr>
              <a:t>char</a:t>
            </a:r>
            <a:r>
              <a:rPr lang="en-US" altLang="zh-TW" sz="2800" dirty="0">
                <a:ea typeface="新細明體" pitchFamily="18" charset="-120"/>
              </a:rPr>
              <a:t> </a:t>
            </a:r>
            <a:r>
              <a:rPr lang="en-US" altLang="zh-TW" sz="2800" dirty="0" smtClean="0">
                <a:ea typeface="新細明體" pitchFamily="18" charset="-120"/>
              </a:rPr>
              <a:t>objects</a:t>
            </a:r>
          </a:p>
          <a:p>
            <a:pPr lvl="2"/>
            <a:r>
              <a:rPr lang="en-US" altLang="zh-TW" sz="2800" dirty="0" err="1" smtClean="0">
                <a:ea typeface="新細明體" pitchFamily="18" charset="-120"/>
              </a:rPr>
              <a:t>etc</a:t>
            </a:r>
            <a:endParaRPr lang="en-US" altLang="zh-TW" sz="2800" dirty="0">
              <a:ea typeface="新細明體" pitchFamily="18" charset="-120"/>
            </a:endParaRPr>
          </a:p>
          <a:p>
            <a:endParaRPr lang="zh-TW" altLang="en-US" sz="36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947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Pointer Variable</a:t>
            </a:r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22437"/>
            <a:ext cx="8686800" cy="452596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TW" sz="2800" dirty="0" smtClean="0">
                <a:ea typeface="新細明體" pitchFamily="18" charset="-120"/>
              </a:rPr>
              <a:t>Declaration </a:t>
            </a:r>
            <a:r>
              <a:rPr lang="en-US" altLang="zh-TW" sz="2800" dirty="0">
                <a:ea typeface="新細明體" pitchFamily="18" charset="-120"/>
              </a:rPr>
              <a:t>of Pointer variables</a:t>
            </a:r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TW" sz="2400" dirty="0">
                <a:ea typeface="新細明體" pitchFamily="18" charset="-120"/>
              </a:rPr>
              <a:t> 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	</a:t>
            </a:r>
            <a:r>
              <a:rPr lang="en-US" altLang="zh-TW" sz="2400" i="1" dirty="0">
                <a:latin typeface="Courier New" pitchFamily="49" charset="0"/>
                <a:ea typeface="新細明體" pitchFamily="18" charset="-120"/>
              </a:rPr>
              <a:t>type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* </a:t>
            </a:r>
            <a:r>
              <a:rPr lang="en-US" altLang="zh-TW" sz="2400" dirty="0" err="1">
                <a:latin typeface="Courier New" pitchFamily="49" charset="0"/>
                <a:ea typeface="新細明體" pitchFamily="18" charset="-120"/>
              </a:rPr>
              <a:t>pointer_name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;</a:t>
            </a:r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  //or </a:t>
            </a:r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	type *</a:t>
            </a:r>
            <a:r>
              <a:rPr lang="en-US" altLang="zh-TW" sz="2400" dirty="0" err="1">
                <a:latin typeface="Courier New" pitchFamily="49" charset="0"/>
                <a:ea typeface="新細明體" pitchFamily="18" charset="-120"/>
              </a:rPr>
              <a:t>pointer_name</a:t>
            </a:r>
            <a:r>
              <a:rPr lang="en-US" altLang="zh-TW" sz="2400" dirty="0" smtClean="0">
                <a:latin typeface="Courier New" pitchFamily="49" charset="0"/>
                <a:ea typeface="新細明體" pitchFamily="18" charset="-120"/>
              </a:rPr>
              <a:t>;</a:t>
            </a:r>
            <a:endParaRPr lang="en-US" altLang="zh-TW" sz="2400" dirty="0">
              <a:latin typeface="Courier New" pitchFamily="49" charset="0"/>
              <a:ea typeface="新細明體" pitchFamily="18" charset="-120"/>
            </a:endParaRPr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endParaRPr lang="en-US" altLang="zh-TW" sz="2400" dirty="0" smtClean="0">
              <a:ea typeface="新細明體" pitchFamily="18" charset="-120"/>
            </a:endParaRPr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TW" sz="2400" dirty="0" smtClean="0">
                <a:ea typeface="新細明體" pitchFamily="18" charset="-120"/>
              </a:rPr>
              <a:t>where </a:t>
            </a:r>
            <a:r>
              <a:rPr lang="en-US" altLang="zh-TW" sz="2400" i="1" dirty="0">
                <a:ea typeface="新細明體" pitchFamily="18" charset="-120"/>
              </a:rPr>
              <a:t>type </a:t>
            </a:r>
            <a:r>
              <a:rPr lang="en-US" altLang="zh-TW" sz="2400" dirty="0">
                <a:ea typeface="新細明體" pitchFamily="18" charset="-120"/>
              </a:rPr>
              <a:t>is the </a:t>
            </a:r>
            <a:r>
              <a:rPr lang="en-US" altLang="zh-TW" sz="2400" dirty="0" smtClean="0">
                <a:ea typeface="新細明體" pitchFamily="18" charset="-120"/>
              </a:rPr>
              <a:t>data type pointed </a:t>
            </a:r>
            <a:r>
              <a:rPr lang="en-US" altLang="zh-TW" sz="2400" dirty="0">
                <a:ea typeface="新細明體" pitchFamily="18" charset="-120"/>
              </a:rPr>
              <a:t>to (e.g. </a:t>
            </a:r>
            <a:r>
              <a:rPr lang="en-US" altLang="zh-TW" sz="2400" dirty="0" err="1">
                <a:ea typeface="新細明體" pitchFamily="18" charset="-120"/>
              </a:rPr>
              <a:t>int</a:t>
            </a:r>
            <a:r>
              <a:rPr lang="en-US" altLang="zh-TW" sz="2400" dirty="0">
                <a:ea typeface="新細明體" pitchFamily="18" charset="-120"/>
              </a:rPr>
              <a:t>, char, double)</a:t>
            </a:r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endParaRPr lang="en-US" altLang="zh-TW" sz="2400" dirty="0">
              <a:ea typeface="新細明體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sz="2800" dirty="0">
                <a:ea typeface="新細明體" pitchFamily="18" charset="-120"/>
              </a:rPr>
              <a:t>Examples:</a:t>
            </a:r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TW" sz="2400" dirty="0">
                <a:ea typeface="新細明體" pitchFamily="18" charset="-120"/>
              </a:rPr>
              <a:t>    </a:t>
            </a:r>
            <a:r>
              <a:rPr lang="en-US" altLang="zh-TW" sz="2400" dirty="0" smtClean="0">
                <a:ea typeface="新細明體" pitchFamily="18" charset="-120"/>
              </a:rPr>
              <a:t> </a:t>
            </a:r>
            <a:r>
              <a:rPr lang="en-US" altLang="zh-TW" sz="2400" dirty="0" err="1" smtClean="0">
                <a:latin typeface="Courier New" pitchFamily="49" charset="0"/>
                <a:ea typeface="新細明體" pitchFamily="18" charset="-120"/>
              </a:rPr>
              <a:t>int</a:t>
            </a:r>
            <a:r>
              <a:rPr lang="en-US" altLang="zh-TW" sz="2400" dirty="0" smtClean="0">
                <a:latin typeface="Courier New" pitchFamily="49" charset="0"/>
                <a:ea typeface="新細明體" pitchFamily="18" charset="-120"/>
              </a:rPr>
              <a:t> 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*n;</a:t>
            </a:r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  </a:t>
            </a:r>
            <a:r>
              <a:rPr lang="en-US" altLang="zh-TW" sz="2400" dirty="0" smtClean="0">
                <a:ea typeface="新細明體" pitchFamily="18" charset="-120"/>
              </a:rPr>
              <a:t>     </a:t>
            </a:r>
            <a:endParaRPr lang="en-US" altLang="zh-TW" sz="2400" dirty="0">
              <a:ea typeface="新細明體" pitchFamily="18" charset="-120"/>
            </a:endParaRPr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endParaRPr lang="en-US" altLang="zh-TW" sz="2400" i="1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6815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156451"/>
            <a:ext cx="8229600" cy="1143000"/>
          </a:xfrm>
        </p:spPr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Address Operator </a:t>
            </a:r>
            <a:r>
              <a:rPr lang="en-US" altLang="zh-TW" dirty="0">
                <a:latin typeface="Courier New" pitchFamily="49" charset="0"/>
                <a:ea typeface="新細明體" pitchFamily="18" charset="-120"/>
              </a:rPr>
              <a:t>&amp;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848600" cy="4114800"/>
          </a:xfrm>
        </p:spPr>
        <p:txBody>
          <a:bodyPr/>
          <a:lstStyle/>
          <a:p>
            <a:r>
              <a:rPr lang="en-US" altLang="zh-TW" sz="2400" dirty="0">
                <a:ea typeface="新細明體" pitchFamily="18" charset="-120"/>
              </a:rPr>
              <a:t>The </a:t>
            </a:r>
            <a:r>
              <a:rPr lang="en-US" altLang="zh-TW" sz="2000" dirty="0">
                <a:ea typeface="新細明體" pitchFamily="18" charset="-120"/>
              </a:rPr>
              <a:t>"</a:t>
            </a:r>
            <a:r>
              <a:rPr lang="en-US" altLang="zh-TW" sz="2400" dirty="0">
                <a:ea typeface="新細明體" pitchFamily="18" charset="-120"/>
              </a:rPr>
              <a:t>address of </a:t>
            </a:r>
            <a:r>
              <a:rPr lang="en-US" altLang="zh-TW" sz="2000" dirty="0">
                <a:ea typeface="新細明體" pitchFamily="18" charset="-120"/>
              </a:rPr>
              <a:t>"</a:t>
            </a:r>
            <a:r>
              <a:rPr lang="en-US" altLang="zh-TW" sz="2400" dirty="0">
                <a:ea typeface="新細明體" pitchFamily="18" charset="-120"/>
              </a:rPr>
              <a:t> operator (</a:t>
            </a:r>
            <a:r>
              <a:rPr lang="en-US" altLang="zh-TW" sz="2400" dirty="0">
                <a:solidFill>
                  <a:schemeClr val="hlink"/>
                </a:solidFill>
                <a:ea typeface="新細明體" pitchFamily="18" charset="-120"/>
              </a:rPr>
              <a:t>&amp;</a:t>
            </a:r>
            <a:r>
              <a:rPr lang="en-US" altLang="zh-TW" sz="2400" dirty="0">
                <a:ea typeface="新細明體" pitchFamily="18" charset="-120"/>
              </a:rPr>
              <a:t>) gives the memory address of the variable</a:t>
            </a:r>
          </a:p>
          <a:p>
            <a:pPr lvl="1"/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Usage: &amp;</a:t>
            </a:r>
            <a:r>
              <a:rPr lang="en-US" altLang="zh-TW" sz="2000" dirty="0" err="1">
                <a:ea typeface="新細明體" pitchFamily="18" charset="-120"/>
              </a:rPr>
              <a:t>variable_name</a:t>
            </a:r>
            <a:endParaRPr lang="en-US" altLang="zh-TW" sz="2000" dirty="0">
              <a:ea typeface="新細明體" pitchFamily="18" charset="-120"/>
            </a:endParaRPr>
          </a:p>
          <a:p>
            <a:pPr lvl="1"/>
            <a:endParaRPr lang="en-US" altLang="zh-TW" sz="2000" b="1" dirty="0">
              <a:latin typeface="Courier New" pitchFamily="49" charset="0"/>
              <a:ea typeface="新細明體" pitchFamily="18" charset="-120"/>
            </a:endParaRPr>
          </a:p>
        </p:txBody>
      </p:sp>
      <p:sp>
        <p:nvSpPr>
          <p:cNvPr id="410643" name="Rectangle 19"/>
          <p:cNvSpPr>
            <a:spLocks noChangeArrowheads="1"/>
          </p:cNvSpPr>
          <p:nvPr/>
        </p:nvSpPr>
        <p:spPr bwMode="auto">
          <a:xfrm>
            <a:off x="4851400" y="3470445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2400" b="0" dirty="0">
                <a:latin typeface="Times New Roman" pitchFamily="18" charset="0"/>
                <a:ea typeface="新細明體" pitchFamily="18" charset="-120"/>
              </a:rPr>
              <a:t>100</a:t>
            </a:r>
          </a:p>
        </p:txBody>
      </p:sp>
      <p:sp>
        <p:nvSpPr>
          <p:cNvPr id="410644" name="Rectangle 20"/>
          <p:cNvSpPr>
            <a:spLocks noChangeArrowheads="1"/>
          </p:cNvSpPr>
          <p:nvPr/>
        </p:nvSpPr>
        <p:spPr bwMode="auto">
          <a:xfrm>
            <a:off x="3663950" y="3470445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410645" name="Rectangle 21"/>
          <p:cNvSpPr>
            <a:spLocks noChangeArrowheads="1"/>
          </p:cNvSpPr>
          <p:nvPr/>
        </p:nvSpPr>
        <p:spPr bwMode="auto">
          <a:xfrm>
            <a:off x="6038850" y="3470445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410648" name="Text Box 24"/>
          <p:cNvSpPr txBox="1">
            <a:spLocks noChangeArrowheads="1"/>
          </p:cNvSpPr>
          <p:nvPr/>
        </p:nvSpPr>
        <p:spPr bwMode="auto">
          <a:xfrm>
            <a:off x="1371600" y="3030707"/>
            <a:ext cx="2286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 dirty="0">
                <a:latin typeface="Arial" charset="0"/>
                <a:ea typeface="新細明體" pitchFamily="18" charset="-120"/>
              </a:rPr>
              <a:t>Memory address:</a:t>
            </a:r>
          </a:p>
        </p:txBody>
      </p:sp>
      <p:sp>
        <p:nvSpPr>
          <p:cNvPr id="410649" name="Text Box 25"/>
          <p:cNvSpPr txBox="1">
            <a:spLocks noChangeArrowheads="1"/>
          </p:cNvSpPr>
          <p:nvPr/>
        </p:nvSpPr>
        <p:spPr bwMode="auto">
          <a:xfrm>
            <a:off x="4929188" y="3030707"/>
            <a:ext cx="973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zh-TW" altLang="en-US" sz="2000">
                <a:latin typeface="Arial" charset="0"/>
                <a:ea typeface="新細明體" pitchFamily="18" charset="-120"/>
              </a:rPr>
              <a:t>1024</a:t>
            </a:r>
          </a:p>
        </p:txBody>
      </p:sp>
      <p:sp>
        <p:nvSpPr>
          <p:cNvPr id="410651" name="Text Box 27"/>
          <p:cNvSpPr txBox="1">
            <a:spLocks noChangeArrowheads="1"/>
          </p:cNvSpPr>
          <p:nvPr/>
        </p:nvSpPr>
        <p:spPr bwMode="auto">
          <a:xfrm>
            <a:off x="1371600" y="4738687"/>
            <a:ext cx="426720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 dirty="0" err="1">
                <a:latin typeface="+mn-lt"/>
                <a:ea typeface="新細明體" pitchFamily="18" charset="-120"/>
              </a:rPr>
              <a:t>int</a:t>
            </a:r>
            <a:r>
              <a:rPr lang="en-US" altLang="zh-TW" sz="2000" dirty="0">
                <a:latin typeface="+mn-lt"/>
                <a:ea typeface="新細明體" pitchFamily="18" charset="-120"/>
              </a:rPr>
              <a:t> a = 100</a:t>
            </a:r>
            <a:r>
              <a:rPr lang="en-US" altLang="zh-TW" sz="2000" dirty="0" smtClean="0">
                <a:latin typeface="+mn-lt"/>
                <a:ea typeface="新細明體" pitchFamily="18" charset="-120"/>
              </a:rPr>
              <a:t>;</a:t>
            </a:r>
            <a:endParaRPr lang="en-US" altLang="zh-TW" sz="2000" dirty="0">
              <a:latin typeface="+mn-lt"/>
              <a:ea typeface="新細明體" pitchFamily="18" charset="-120"/>
            </a:endParaRPr>
          </a:p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 dirty="0" err="1" smtClean="0">
                <a:latin typeface="+mn-lt"/>
                <a:ea typeface="新細明體" pitchFamily="18" charset="-120"/>
              </a:rPr>
              <a:t>cout</a:t>
            </a:r>
            <a:r>
              <a:rPr lang="en-US" altLang="zh-TW" sz="2000" dirty="0" smtClean="0">
                <a:latin typeface="+mn-lt"/>
                <a:ea typeface="新細明體" pitchFamily="18" charset="-120"/>
              </a:rPr>
              <a:t> </a:t>
            </a:r>
            <a:r>
              <a:rPr lang="en-US" altLang="zh-TW" sz="2000" dirty="0">
                <a:latin typeface="+mn-lt"/>
                <a:ea typeface="新細明體" pitchFamily="18" charset="-120"/>
              </a:rPr>
              <a:t>&lt;&lt; a;	  </a:t>
            </a:r>
            <a:r>
              <a:rPr lang="en-US" altLang="zh-TW" sz="2000" dirty="0">
                <a:solidFill>
                  <a:srgbClr val="00B050"/>
                </a:solidFill>
                <a:latin typeface="+mn-lt"/>
                <a:ea typeface="新細明體" pitchFamily="18" charset="-120"/>
              </a:rPr>
              <a:t>//prints 100</a:t>
            </a:r>
          </a:p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 dirty="0" err="1" smtClean="0">
                <a:latin typeface="+mn-lt"/>
                <a:ea typeface="新細明體" pitchFamily="18" charset="-120"/>
              </a:rPr>
              <a:t>cout</a:t>
            </a:r>
            <a:r>
              <a:rPr lang="en-US" altLang="zh-TW" sz="2000" dirty="0" smtClean="0">
                <a:latin typeface="+mn-lt"/>
                <a:ea typeface="新細明體" pitchFamily="18" charset="-120"/>
              </a:rPr>
              <a:t> </a:t>
            </a:r>
            <a:r>
              <a:rPr lang="en-US" altLang="zh-TW" sz="2000" dirty="0">
                <a:latin typeface="+mn-lt"/>
                <a:ea typeface="新細明體" pitchFamily="18" charset="-120"/>
              </a:rPr>
              <a:t>&lt;&lt; &amp;a;   </a:t>
            </a:r>
            <a:r>
              <a:rPr lang="en-US" altLang="zh-TW" sz="2000" dirty="0" smtClean="0">
                <a:latin typeface="+mn-lt"/>
                <a:ea typeface="新細明體" pitchFamily="18" charset="-120"/>
              </a:rPr>
              <a:t>          </a:t>
            </a:r>
            <a:r>
              <a:rPr lang="en-US" altLang="zh-TW" sz="2000" dirty="0" smtClean="0">
                <a:solidFill>
                  <a:srgbClr val="00B050"/>
                </a:solidFill>
                <a:latin typeface="+mn-lt"/>
                <a:ea typeface="新細明體" pitchFamily="18" charset="-120"/>
              </a:rPr>
              <a:t>//</a:t>
            </a:r>
            <a:r>
              <a:rPr lang="en-US" altLang="zh-TW" sz="2000" dirty="0">
                <a:solidFill>
                  <a:srgbClr val="00B050"/>
                </a:solidFill>
                <a:latin typeface="+mn-lt"/>
                <a:ea typeface="新細明體" pitchFamily="18" charset="-120"/>
              </a:rPr>
              <a:t>prints 1024</a:t>
            </a:r>
          </a:p>
        </p:txBody>
      </p:sp>
      <p:sp>
        <p:nvSpPr>
          <p:cNvPr id="410653" name="Rectangle 29"/>
          <p:cNvSpPr>
            <a:spLocks noChangeArrowheads="1"/>
          </p:cNvSpPr>
          <p:nvPr/>
        </p:nvSpPr>
        <p:spPr bwMode="auto">
          <a:xfrm>
            <a:off x="2514600" y="3470445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410654" name="Text Box 30"/>
          <p:cNvSpPr txBox="1">
            <a:spLocks noChangeArrowheads="1"/>
          </p:cNvSpPr>
          <p:nvPr/>
        </p:nvSpPr>
        <p:spPr bwMode="auto">
          <a:xfrm>
            <a:off x="3657600" y="3030707"/>
            <a:ext cx="973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zh-TW" altLang="en-US" sz="2000">
                <a:latin typeface="Arial" charset="0"/>
                <a:ea typeface="新細明體" pitchFamily="18" charset="-120"/>
              </a:rPr>
              <a:t>1020</a:t>
            </a:r>
          </a:p>
        </p:txBody>
      </p:sp>
      <p:sp>
        <p:nvSpPr>
          <p:cNvPr id="410655" name="Text Box 31"/>
          <p:cNvSpPr txBox="1">
            <a:spLocks noChangeArrowheads="1"/>
          </p:cNvSpPr>
          <p:nvPr/>
        </p:nvSpPr>
        <p:spPr bwMode="auto">
          <a:xfrm>
            <a:off x="5181600" y="4097507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>
                <a:latin typeface="Arial" charset="0"/>
                <a:ea typeface="新細明體" pitchFamily="18" charset="-12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xmlns="" val="332885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62438" y="110224"/>
            <a:ext cx="8229600" cy="1143000"/>
          </a:xfrm>
        </p:spPr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Address Operator &amp;</a:t>
            </a:r>
          </a:p>
        </p:txBody>
      </p:sp>
      <p:grpSp>
        <p:nvGrpSpPr>
          <p:cNvPr id="373796" name="Group 1060"/>
          <p:cNvGrpSpPr>
            <a:grpSpLocks/>
          </p:cNvGrpSpPr>
          <p:nvPr/>
        </p:nvGrpSpPr>
        <p:grpSpPr bwMode="auto">
          <a:xfrm>
            <a:off x="997438" y="1673576"/>
            <a:ext cx="7042150" cy="1509713"/>
            <a:chOff x="288" y="960"/>
            <a:chExt cx="4436" cy="951"/>
          </a:xfrm>
        </p:grpSpPr>
        <p:sp>
          <p:nvSpPr>
            <p:cNvPr id="373780" name="Rectangle 1044"/>
            <p:cNvSpPr>
              <a:spLocks noChangeArrowheads="1"/>
            </p:cNvSpPr>
            <p:nvPr/>
          </p:nvSpPr>
          <p:spPr bwMode="auto">
            <a:xfrm>
              <a:off x="2480" y="1237"/>
              <a:ext cx="748" cy="370"/>
            </a:xfrm>
            <a:prstGeom prst="rect">
              <a:avLst/>
            </a:prstGeom>
            <a:solidFill>
              <a:srgbClr val="00CCFF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b="0">
                  <a:latin typeface="Times New Roman" pitchFamily="18" charset="0"/>
                  <a:ea typeface="新細明體" pitchFamily="18" charset="-120"/>
                </a:rPr>
                <a:t>100</a:t>
              </a:r>
            </a:p>
          </p:txBody>
        </p:sp>
        <p:sp>
          <p:nvSpPr>
            <p:cNvPr id="373781" name="Rectangle 1045"/>
            <p:cNvSpPr>
              <a:spLocks noChangeArrowheads="1"/>
            </p:cNvSpPr>
            <p:nvPr/>
          </p:nvSpPr>
          <p:spPr bwMode="auto">
            <a:xfrm>
              <a:off x="1732" y="1237"/>
              <a:ext cx="748" cy="370"/>
            </a:xfrm>
            <a:prstGeom prst="rect">
              <a:avLst/>
            </a:prstGeom>
            <a:solidFill>
              <a:srgbClr val="00CCFF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b="0">
                  <a:latin typeface="Times New Roman" pitchFamily="18" charset="0"/>
                  <a:ea typeface="新細明體" pitchFamily="18" charset="-120"/>
                </a:rPr>
                <a:t>88</a:t>
              </a:r>
            </a:p>
          </p:txBody>
        </p:sp>
        <p:sp>
          <p:nvSpPr>
            <p:cNvPr id="373782" name="Rectangle 1046"/>
            <p:cNvSpPr>
              <a:spLocks noChangeArrowheads="1"/>
            </p:cNvSpPr>
            <p:nvPr/>
          </p:nvSpPr>
          <p:spPr bwMode="auto">
            <a:xfrm>
              <a:off x="3228" y="1237"/>
              <a:ext cx="748" cy="370"/>
            </a:xfrm>
            <a:prstGeom prst="rect">
              <a:avLst/>
            </a:prstGeom>
            <a:solidFill>
              <a:srgbClr val="00CCFF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4800" dirty="0">
                  <a:latin typeface="Times New Roman" pitchFamily="18" charset="0"/>
                  <a:ea typeface="新細明體" pitchFamily="18" charset="-120"/>
                </a:rPr>
                <a:t>…</a:t>
              </a:r>
            </a:p>
          </p:txBody>
        </p:sp>
        <p:sp>
          <p:nvSpPr>
            <p:cNvPr id="373783" name="Rectangle 1047"/>
            <p:cNvSpPr>
              <a:spLocks noChangeArrowheads="1"/>
            </p:cNvSpPr>
            <p:nvPr/>
          </p:nvSpPr>
          <p:spPr bwMode="auto">
            <a:xfrm>
              <a:off x="3976" y="1237"/>
              <a:ext cx="748" cy="370"/>
            </a:xfrm>
            <a:prstGeom prst="rect">
              <a:avLst/>
            </a:prstGeom>
            <a:solidFill>
              <a:srgbClr val="00CCFF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4800" dirty="0">
                  <a:latin typeface="Times New Roman" pitchFamily="18" charset="0"/>
                  <a:ea typeface="新細明體" pitchFamily="18" charset="-120"/>
                </a:rPr>
                <a:t>…</a:t>
              </a:r>
            </a:p>
          </p:txBody>
        </p:sp>
        <p:sp>
          <p:nvSpPr>
            <p:cNvPr id="373785" name="Text Box 1049"/>
            <p:cNvSpPr txBox="1">
              <a:spLocks noChangeArrowheads="1"/>
            </p:cNvSpPr>
            <p:nvPr/>
          </p:nvSpPr>
          <p:spPr bwMode="auto">
            <a:xfrm>
              <a:off x="288" y="960"/>
              <a:ext cx="136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zh-TW" sz="2000">
                  <a:latin typeface="Arial" charset="0"/>
                  <a:ea typeface="新細明體" pitchFamily="18" charset="-120"/>
                </a:rPr>
                <a:t>Memory address:</a:t>
              </a:r>
            </a:p>
          </p:txBody>
        </p:sp>
        <p:sp>
          <p:nvSpPr>
            <p:cNvPr id="373786" name="Text Box 1050"/>
            <p:cNvSpPr txBox="1">
              <a:spLocks noChangeArrowheads="1"/>
            </p:cNvSpPr>
            <p:nvPr/>
          </p:nvSpPr>
          <p:spPr bwMode="auto">
            <a:xfrm>
              <a:off x="2529" y="960"/>
              <a:ext cx="6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zh-TW" altLang="en-US" sz="2000">
                  <a:latin typeface="Arial" charset="0"/>
                  <a:ea typeface="新細明體" pitchFamily="18" charset="-120"/>
                </a:rPr>
                <a:t>1024</a:t>
              </a:r>
            </a:p>
          </p:txBody>
        </p:sp>
        <p:sp>
          <p:nvSpPr>
            <p:cNvPr id="373787" name="Text Box 1051"/>
            <p:cNvSpPr txBox="1">
              <a:spLocks noChangeArrowheads="1"/>
            </p:cNvSpPr>
            <p:nvPr/>
          </p:nvSpPr>
          <p:spPr bwMode="auto">
            <a:xfrm>
              <a:off x="3976" y="960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zh-TW" altLang="en-US" sz="2000" dirty="0">
                  <a:latin typeface="Arial" charset="0"/>
                  <a:ea typeface="新細明體" pitchFamily="18" charset="-120"/>
                </a:rPr>
                <a:t>1032</a:t>
              </a:r>
            </a:p>
          </p:txBody>
        </p:sp>
        <p:sp>
          <p:nvSpPr>
            <p:cNvPr id="373788" name="Text Box 1052"/>
            <p:cNvSpPr txBox="1">
              <a:spLocks noChangeArrowheads="1"/>
            </p:cNvSpPr>
            <p:nvPr/>
          </p:nvSpPr>
          <p:spPr bwMode="auto">
            <a:xfrm>
              <a:off x="1920" y="1680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zh-TW" sz="1800">
                  <a:latin typeface="Arial" charset="0"/>
                  <a:ea typeface="新細明體" pitchFamily="18" charset="-120"/>
                </a:rPr>
                <a:t> a</a:t>
              </a:r>
            </a:p>
          </p:txBody>
        </p:sp>
        <p:sp>
          <p:nvSpPr>
            <p:cNvPr id="373790" name="Rectangle 1054"/>
            <p:cNvSpPr>
              <a:spLocks noChangeArrowheads="1"/>
            </p:cNvSpPr>
            <p:nvPr/>
          </p:nvSpPr>
          <p:spPr bwMode="auto">
            <a:xfrm>
              <a:off x="1008" y="1237"/>
              <a:ext cx="748" cy="370"/>
            </a:xfrm>
            <a:prstGeom prst="rect">
              <a:avLst/>
            </a:prstGeom>
            <a:solidFill>
              <a:srgbClr val="00CCFF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4800">
                  <a:latin typeface="Times New Roman" pitchFamily="18" charset="0"/>
                  <a:ea typeface="新細明體" pitchFamily="18" charset="-120"/>
                </a:rPr>
                <a:t>…</a:t>
              </a:r>
            </a:p>
          </p:txBody>
        </p:sp>
        <p:sp>
          <p:nvSpPr>
            <p:cNvPr id="373791" name="Text Box 1055"/>
            <p:cNvSpPr txBox="1">
              <a:spLocks noChangeArrowheads="1"/>
            </p:cNvSpPr>
            <p:nvPr/>
          </p:nvSpPr>
          <p:spPr bwMode="auto">
            <a:xfrm>
              <a:off x="1728" y="960"/>
              <a:ext cx="6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zh-TW" altLang="en-US" sz="2000">
                  <a:latin typeface="Arial" charset="0"/>
                  <a:ea typeface="新細明體" pitchFamily="18" charset="-120"/>
                </a:rPr>
                <a:t>1020</a:t>
              </a:r>
            </a:p>
          </p:txBody>
        </p:sp>
        <p:sp>
          <p:nvSpPr>
            <p:cNvPr id="373792" name="Text Box 1056"/>
            <p:cNvSpPr txBox="1">
              <a:spLocks noChangeArrowheads="1"/>
            </p:cNvSpPr>
            <p:nvPr/>
          </p:nvSpPr>
          <p:spPr bwMode="auto">
            <a:xfrm>
              <a:off x="2784" y="1680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zh-TW" sz="1800">
                  <a:latin typeface="Arial" charset="0"/>
                  <a:ea typeface="新細明體" pitchFamily="18" charset="-120"/>
                </a:rPr>
                <a:t>b</a:t>
              </a:r>
            </a:p>
          </p:txBody>
        </p:sp>
      </p:grpSp>
      <p:sp>
        <p:nvSpPr>
          <p:cNvPr id="373794" name="Rectangle 1058"/>
          <p:cNvSpPr>
            <a:spLocks noChangeArrowheads="1"/>
          </p:cNvSpPr>
          <p:nvPr/>
        </p:nvSpPr>
        <p:spPr bwMode="auto">
          <a:xfrm>
            <a:off x="1031046" y="3505200"/>
            <a:ext cx="660192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Monotype Sorts" pitchFamily="2" charset="2"/>
              <a:buNone/>
            </a:pPr>
            <a:r>
              <a:rPr lang="en-US" altLang="zh-TW" dirty="0" smtClean="0">
                <a:ea typeface="新細明體" pitchFamily="18" charset="-120"/>
              </a:rPr>
              <a:t>void </a:t>
            </a:r>
            <a:r>
              <a:rPr lang="en-US" altLang="zh-TW" dirty="0">
                <a:ea typeface="新細明體" pitchFamily="18" charset="-120"/>
              </a:rPr>
              <a:t>main</a:t>
            </a:r>
            <a:r>
              <a:rPr lang="en-US" altLang="zh-TW" dirty="0" smtClean="0">
                <a:ea typeface="新細明體" pitchFamily="18" charset="-120"/>
              </a:rPr>
              <a:t>()</a:t>
            </a:r>
          </a:p>
          <a:p>
            <a:pPr marL="342900" indent="-342900">
              <a:buFont typeface="Monotype Sorts" pitchFamily="2" charset="2"/>
              <a:buNone/>
            </a:pPr>
            <a:r>
              <a:rPr lang="en-US" altLang="zh-TW" dirty="0" smtClean="0">
                <a:ea typeface="新細明體" pitchFamily="18" charset="-120"/>
              </a:rPr>
              <a:t>{</a:t>
            </a:r>
            <a:endParaRPr lang="en-US" altLang="zh-TW" dirty="0">
              <a:ea typeface="新細明體" pitchFamily="18" charset="-120"/>
            </a:endParaRPr>
          </a:p>
          <a:p>
            <a:pPr marL="342900" indent="-342900">
              <a:buFont typeface="Monotype Sorts" pitchFamily="2" charset="2"/>
              <a:buNone/>
            </a:pPr>
            <a:r>
              <a:rPr lang="en-US" altLang="zh-TW" dirty="0">
                <a:ea typeface="新細明體" pitchFamily="18" charset="-120"/>
              </a:rPr>
              <a:t>	</a:t>
            </a:r>
            <a:r>
              <a:rPr lang="en-US" altLang="zh-TW" dirty="0" err="1">
                <a:ea typeface="新細明體" pitchFamily="18" charset="-120"/>
              </a:rPr>
              <a:t>int</a:t>
            </a:r>
            <a:r>
              <a:rPr lang="en-US" altLang="zh-TW" dirty="0">
                <a:ea typeface="新細明體" pitchFamily="18" charset="-120"/>
              </a:rPr>
              <a:t> </a:t>
            </a:r>
            <a:r>
              <a:rPr lang="en-US" altLang="zh-TW" dirty="0" smtClean="0">
                <a:ea typeface="新細明體" pitchFamily="18" charset="-120"/>
              </a:rPr>
              <a:t>a = 88, b= 100;</a:t>
            </a:r>
            <a:endParaRPr lang="en-US" altLang="zh-TW" dirty="0">
              <a:ea typeface="新細明體" pitchFamily="18" charset="-120"/>
            </a:endParaRPr>
          </a:p>
          <a:p>
            <a:pPr marL="342900" indent="-342900">
              <a:buFont typeface="Monotype Sorts" pitchFamily="2" charset="2"/>
              <a:buNone/>
            </a:pPr>
            <a:r>
              <a:rPr lang="en-US" altLang="zh-TW" dirty="0">
                <a:ea typeface="新細明體" pitchFamily="18" charset="-120"/>
              </a:rPr>
              <a:t>	</a:t>
            </a:r>
            <a:r>
              <a:rPr lang="en-US" altLang="zh-TW" dirty="0" err="1">
                <a:ea typeface="新細明體" pitchFamily="18" charset="-120"/>
              </a:rPr>
              <a:t>cout</a:t>
            </a:r>
            <a:r>
              <a:rPr lang="en-US" altLang="zh-TW" dirty="0">
                <a:ea typeface="新細明體" pitchFamily="18" charset="-120"/>
              </a:rPr>
              <a:t> &lt;&lt; "The address of a is: " &lt;&lt;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&amp;a</a:t>
            </a:r>
            <a:r>
              <a:rPr lang="en-US" altLang="zh-TW" dirty="0">
                <a:ea typeface="新細明體" pitchFamily="18" charset="-120"/>
              </a:rPr>
              <a:t> &lt;&lt; </a:t>
            </a:r>
            <a:r>
              <a:rPr lang="en-US" altLang="zh-TW" dirty="0" err="1">
                <a:ea typeface="新細明體" pitchFamily="18" charset="-120"/>
              </a:rPr>
              <a:t>endl</a:t>
            </a:r>
            <a:r>
              <a:rPr lang="en-US" altLang="zh-TW" dirty="0" smtClean="0">
                <a:ea typeface="新細明體" pitchFamily="18" charset="-120"/>
              </a:rPr>
              <a:t>;     </a:t>
            </a:r>
            <a:r>
              <a:rPr lang="en-US" altLang="zh-TW" b="1" dirty="0" smtClean="0">
                <a:solidFill>
                  <a:srgbClr val="00B050"/>
                </a:solidFill>
              </a:rPr>
              <a:t>//</a:t>
            </a:r>
            <a:r>
              <a:rPr lang="en-US" altLang="zh-TW" b="1" dirty="0">
                <a:solidFill>
                  <a:srgbClr val="00B050"/>
                </a:solidFill>
              </a:rPr>
              <a:t>output: </a:t>
            </a:r>
            <a:r>
              <a:rPr lang="en-US" altLang="zh-TW" b="1" dirty="0" smtClean="0">
                <a:solidFill>
                  <a:srgbClr val="00B050"/>
                </a:solidFill>
              </a:rPr>
              <a:t>1020</a:t>
            </a:r>
            <a:endParaRPr lang="en-US" altLang="zh-TW" dirty="0">
              <a:ea typeface="新細明體" pitchFamily="18" charset="-120"/>
            </a:endParaRPr>
          </a:p>
          <a:p>
            <a:pPr marL="342900" indent="-342900">
              <a:buFont typeface="Monotype Sorts" pitchFamily="2" charset="2"/>
              <a:buNone/>
            </a:pPr>
            <a:r>
              <a:rPr lang="en-US" altLang="zh-TW" dirty="0">
                <a:ea typeface="新細明體" pitchFamily="18" charset="-120"/>
              </a:rPr>
              <a:t>	</a:t>
            </a:r>
            <a:r>
              <a:rPr lang="en-US" altLang="zh-TW" dirty="0" err="1">
                <a:ea typeface="新細明體" pitchFamily="18" charset="-120"/>
              </a:rPr>
              <a:t>cout</a:t>
            </a:r>
            <a:r>
              <a:rPr lang="en-US" altLang="zh-TW" dirty="0">
                <a:ea typeface="新細明體" pitchFamily="18" charset="-120"/>
              </a:rPr>
              <a:t> &lt;&lt; "The address of b is: " &lt;&lt;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&amp;b</a:t>
            </a:r>
            <a:r>
              <a:rPr lang="en-US" altLang="zh-TW" dirty="0">
                <a:ea typeface="新細明體" pitchFamily="18" charset="-120"/>
              </a:rPr>
              <a:t> &lt;&lt; </a:t>
            </a:r>
            <a:r>
              <a:rPr lang="en-US" altLang="zh-TW" dirty="0" err="1">
                <a:ea typeface="新細明體" pitchFamily="18" charset="-120"/>
              </a:rPr>
              <a:t>endl</a:t>
            </a:r>
            <a:r>
              <a:rPr lang="en-US" altLang="zh-TW" dirty="0" smtClean="0">
                <a:ea typeface="新細明體" pitchFamily="18" charset="-120"/>
              </a:rPr>
              <a:t>;    </a:t>
            </a:r>
            <a:r>
              <a:rPr lang="en-US" altLang="zh-TW" b="1" dirty="0" smtClean="0">
                <a:solidFill>
                  <a:srgbClr val="00B050"/>
                </a:solidFill>
              </a:rPr>
              <a:t>//</a:t>
            </a:r>
            <a:r>
              <a:rPr lang="en-US" altLang="zh-TW" b="1" dirty="0">
                <a:solidFill>
                  <a:srgbClr val="00B050"/>
                </a:solidFill>
              </a:rPr>
              <a:t>output: </a:t>
            </a:r>
            <a:r>
              <a:rPr lang="en-US" altLang="zh-TW" b="1" dirty="0" smtClean="0">
                <a:solidFill>
                  <a:srgbClr val="00B050"/>
                </a:solidFill>
              </a:rPr>
              <a:t>1024</a:t>
            </a:r>
            <a:endParaRPr lang="en-US" altLang="zh-TW" dirty="0">
              <a:ea typeface="新細明體" pitchFamily="18" charset="-120"/>
            </a:endParaRPr>
          </a:p>
          <a:p>
            <a:pPr marL="342900" indent="-342900">
              <a:buFont typeface="Monotype Sorts" pitchFamily="2" charset="2"/>
              <a:buNone/>
            </a:pPr>
            <a:r>
              <a:rPr lang="en-US" altLang="zh-TW" dirty="0" smtClean="0">
                <a:ea typeface="新細明體" pitchFamily="18" charset="-120"/>
              </a:rPr>
              <a:t>}</a:t>
            </a:r>
            <a:endParaRPr lang="zh-TW" altLang="en-US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017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848600" cy="3352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altLang="zh-TW" sz="24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4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4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4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4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4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4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Font typeface="Monotype Sorts" pitchFamily="2" charset="2"/>
              <a:buNone/>
            </a:pPr>
            <a:endParaRPr lang="zh-TW" altLang="en-US" sz="2400" dirty="0">
              <a:ea typeface="新細明體" pitchFamily="18" charset="-120"/>
            </a:endParaRPr>
          </a:p>
        </p:txBody>
      </p:sp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Pointer Variables</a:t>
            </a:r>
          </a:p>
        </p:txBody>
      </p:sp>
      <p:grpSp>
        <p:nvGrpSpPr>
          <p:cNvPr id="412695" name="Group 23"/>
          <p:cNvGrpSpPr>
            <a:grpSpLocks/>
          </p:cNvGrpSpPr>
          <p:nvPr/>
        </p:nvGrpSpPr>
        <p:grpSpPr bwMode="auto">
          <a:xfrm>
            <a:off x="434975" y="1600201"/>
            <a:ext cx="7042150" cy="3414714"/>
            <a:chOff x="130" y="2213"/>
            <a:chExt cx="4436" cy="2151"/>
          </a:xfrm>
        </p:grpSpPr>
        <p:sp>
          <p:nvSpPr>
            <p:cNvPr id="412677" name="Rectangle 5"/>
            <p:cNvSpPr>
              <a:spLocks noChangeArrowheads="1"/>
            </p:cNvSpPr>
            <p:nvPr/>
          </p:nvSpPr>
          <p:spPr bwMode="auto">
            <a:xfrm>
              <a:off x="2322" y="2490"/>
              <a:ext cx="748" cy="370"/>
            </a:xfrm>
            <a:prstGeom prst="rect">
              <a:avLst/>
            </a:prstGeom>
            <a:solidFill>
              <a:srgbClr val="00CCFF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b="0" dirty="0">
                  <a:latin typeface="Times New Roman" pitchFamily="18" charset="0"/>
                  <a:ea typeface="新細明體" pitchFamily="18" charset="-120"/>
                </a:rPr>
                <a:t>100</a:t>
              </a:r>
            </a:p>
          </p:txBody>
        </p:sp>
        <p:sp>
          <p:nvSpPr>
            <p:cNvPr id="412678" name="Rectangle 6"/>
            <p:cNvSpPr>
              <a:spLocks noChangeArrowheads="1"/>
            </p:cNvSpPr>
            <p:nvPr/>
          </p:nvSpPr>
          <p:spPr bwMode="auto">
            <a:xfrm>
              <a:off x="1574" y="2490"/>
              <a:ext cx="748" cy="370"/>
            </a:xfrm>
            <a:prstGeom prst="rect">
              <a:avLst/>
            </a:prstGeom>
            <a:solidFill>
              <a:srgbClr val="00CCFF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b="0">
                  <a:latin typeface="Times New Roman" pitchFamily="18" charset="0"/>
                  <a:ea typeface="新細明體" pitchFamily="18" charset="-120"/>
                </a:rPr>
                <a:t>88</a:t>
              </a:r>
            </a:p>
          </p:txBody>
        </p:sp>
        <p:sp>
          <p:nvSpPr>
            <p:cNvPr id="412679" name="Rectangle 7"/>
            <p:cNvSpPr>
              <a:spLocks noChangeArrowheads="1"/>
            </p:cNvSpPr>
            <p:nvPr/>
          </p:nvSpPr>
          <p:spPr bwMode="auto">
            <a:xfrm>
              <a:off x="3070" y="2490"/>
              <a:ext cx="748" cy="370"/>
            </a:xfrm>
            <a:prstGeom prst="rect">
              <a:avLst/>
            </a:prstGeom>
            <a:solidFill>
              <a:srgbClr val="00CCFF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4800">
                  <a:latin typeface="Times New Roman" pitchFamily="18" charset="0"/>
                  <a:ea typeface="新細明體" pitchFamily="18" charset="-120"/>
                </a:rPr>
                <a:t>…</a:t>
              </a:r>
            </a:p>
          </p:txBody>
        </p:sp>
        <p:sp>
          <p:nvSpPr>
            <p:cNvPr id="412680" name="Rectangle 8"/>
            <p:cNvSpPr>
              <a:spLocks noChangeArrowheads="1"/>
            </p:cNvSpPr>
            <p:nvPr/>
          </p:nvSpPr>
          <p:spPr bwMode="auto">
            <a:xfrm>
              <a:off x="3818" y="2490"/>
              <a:ext cx="748" cy="370"/>
            </a:xfrm>
            <a:prstGeom prst="rect">
              <a:avLst/>
            </a:prstGeom>
            <a:solidFill>
              <a:srgbClr val="00CCFF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2400" b="0">
                  <a:latin typeface="Times New Roman" pitchFamily="18" charset="0"/>
                  <a:ea typeface="新細明體" pitchFamily="18" charset="-120"/>
                </a:rPr>
                <a:t>1024</a:t>
              </a:r>
            </a:p>
          </p:txBody>
        </p:sp>
        <p:sp>
          <p:nvSpPr>
            <p:cNvPr id="412682" name="Text Box 10"/>
            <p:cNvSpPr txBox="1">
              <a:spLocks noChangeArrowheads="1"/>
            </p:cNvSpPr>
            <p:nvPr/>
          </p:nvSpPr>
          <p:spPr bwMode="auto">
            <a:xfrm>
              <a:off x="130" y="2213"/>
              <a:ext cx="13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zh-TW" sz="2000" b="0">
                  <a:latin typeface="Arial" charset="0"/>
                  <a:ea typeface="新細明體" pitchFamily="18" charset="-120"/>
                </a:rPr>
                <a:t>Memory address:</a:t>
              </a:r>
            </a:p>
          </p:txBody>
        </p:sp>
        <p:sp>
          <p:nvSpPr>
            <p:cNvPr id="412683" name="Text Box 11"/>
            <p:cNvSpPr txBox="1">
              <a:spLocks noChangeArrowheads="1"/>
            </p:cNvSpPr>
            <p:nvPr/>
          </p:nvSpPr>
          <p:spPr bwMode="auto">
            <a:xfrm>
              <a:off x="2371" y="2213"/>
              <a:ext cx="6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zh-TW" altLang="en-US" sz="2000" b="0">
                  <a:latin typeface="Arial" charset="0"/>
                  <a:ea typeface="新細明體" pitchFamily="18" charset="-120"/>
                </a:rPr>
                <a:t>1024</a:t>
              </a:r>
            </a:p>
          </p:txBody>
        </p:sp>
        <p:sp>
          <p:nvSpPr>
            <p:cNvPr id="412684" name="Text Box 12"/>
            <p:cNvSpPr txBox="1">
              <a:spLocks noChangeArrowheads="1"/>
            </p:cNvSpPr>
            <p:nvPr/>
          </p:nvSpPr>
          <p:spPr bwMode="auto">
            <a:xfrm>
              <a:off x="3922" y="2213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zh-TW" altLang="en-US" sz="2000" b="0">
                  <a:latin typeface="Arial" charset="0"/>
                  <a:ea typeface="新細明體" pitchFamily="18" charset="-120"/>
                </a:rPr>
                <a:t>1032</a:t>
              </a:r>
            </a:p>
          </p:txBody>
        </p:sp>
        <p:sp>
          <p:nvSpPr>
            <p:cNvPr id="412686" name="Rectangle 14"/>
            <p:cNvSpPr>
              <a:spLocks noChangeArrowheads="1"/>
            </p:cNvSpPr>
            <p:nvPr/>
          </p:nvSpPr>
          <p:spPr bwMode="auto">
            <a:xfrm>
              <a:off x="850" y="2490"/>
              <a:ext cx="748" cy="370"/>
            </a:xfrm>
            <a:prstGeom prst="rect">
              <a:avLst/>
            </a:prstGeom>
            <a:solidFill>
              <a:srgbClr val="00CCFF"/>
            </a:solidFill>
            <a:ln w="38100" cmpd="dbl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TW" sz="4800" dirty="0">
                  <a:latin typeface="Times New Roman" pitchFamily="18" charset="0"/>
                  <a:ea typeface="新細明體" pitchFamily="18" charset="-120"/>
                </a:rPr>
                <a:t>…</a:t>
              </a:r>
            </a:p>
          </p:txBody>
        </p:sp>
        <p:sp>
          <p:nvSpPr>
            <p:cNvPr id="412687" name="Text Box 15"/>
            <p:cNvSpPr txBox="1">
              <a:spLocks noChangeArrowheads="1"/>
            </p:cNvSpPr>
            <p:nvPr/>
          </p:nvSpPr>
          <p:spPr bwMode="auto">
            <a:xfrm>
              <a:off x="1570" y="2213"/>
              <a:ext cx="6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zh-TW" altLang="en-US" sz="2000" b="0">
                  <a:latin typeface="Arial" charset="0"/>
                  <a:ea typeface="新細明體" pitchFamily="18" charset="-120"/>
                </a:rPr>
                <a:t>1020</a:t>
              </a:r>
            </a:p>
          </p:txBody>
        </p:sp>
        <p:sp>
          <p:nvSpPr>
            <p:cNvPr id="412690" name="Text Box 18"/>
            <p:cNvSpPr txBox="1">
              <a:spLocks noChangeArrowheads="1"/>
            </p:cNvSpPr>
            <p:nvPr/>
          </p:nvSpPr>
          <p:spPr bwMode="auto">
            <a:xfrm>
              <a:off x="2592" y="2928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zh-TW" sz="2000" b="0">
                  <a:latin typeface="Arial" charset="0"/>
                  <a:ea typeface="新細明體" pitchFamily="18" charset="-120"/>
                </a:rPr>
                <a:t>a</a:t>
              </a:r>
            </a:p>
          </p:txBody>
        </p:sp>
        <p:sp>
          <p:nvSpPr>
            <p:cNvPr id="412691" name="Text Box 19"/>
            <p:cNvSpPr txBox="1">
              <a:spLocks noChangeArrowheads="1"/>
            </p:cNvSpPr>
            <p:nvPr/>
          </p:nvSpPr>
          <p:spPr bwMode="auto">
            <a:xfrm>
              <a:off x="4128" y="2928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zh-TW" sz="2000" b="0">
                  <a:latin typeface="Arial" charset="0"/>
                  <a:ea typeface="新細明體" pitchFamily="18" charset="-120"/>
                </a:rPr>
                <a:t>p</a:t>
              </a:r>
            </a:p>
          </p:txBody>
        </p:sp>
        <p:cxnSp>
          <p:nvCxnSpPr>
            <p:cNvPr id="412692" name="AutoShape 20"/>
            <p:cNvCxnSpPr>
              <a:cxnSpLocks noChangeShapeType="1"/>
              <a:stCxn id="412680" idx="0"/>
              <a:endCxn id="412677" idx="0"/>
            </p:cNvCxnSpPr>
            <p:nvPr/>
          </p:nvCxnSpPr>
          <p:spPr bwMode="auto">
            <a:xfrm rot="16200000" flipH="1" flipV="1">
              <a:off x="3443" y="1731"/>
              <a:ext cx="1" cy="1496"/>
            </a:xfrm>
            <a:prstGeom prst="curvedConnector3">
              <a:avLst>
                <a:gd name="adj1" fmla="val -13200000"/>
              </a:avLst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2693" name="Text Box 21"/>
            <p:cNvSpPr txBox="1">
              <a:spLocks noChangeArrowheads="1"/>
            </p:cNvSpPr>
            <p:nvPr/>
          </p:nvSpPr>
          <p:spPr bwMode="auto">
            <a:xfrm>
              <a:off x="245" y="3294"/>
              <a:ext cx="4219" cy="10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zh-TW" sz="1800" b="0" dirty="0" err="1">
                  <a:latin typeface="+mn-lt"/>
                  <a:ea typeface="新細明體" pitchFamily="18" charset="-120"/>
                </a:rPr>
                <a:t>int</a:t>
              </a:r>
              <a:r>
                <a:rPr lang="en-US" altLang="zh-TW" sz="1800" b="0" dirty="0">
                  <a:latin typeface="+mn-lt"/>
                  <a:ea typeface="新細明體" pitchFamily="18" charset="-120"/>
                </a:rPr>
                <a:t> a = 100;</a:t>
              </a:r>
            </a:p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zh-TW" sz="1800" b="0" dirty="0" err="1">
                  <a:solidFill>
                    <a:srgbClr val="FF0000"/>
                  </a:solidFill>
                  <a:latin typeface="+mn-lt"/>
                  <a:ea typeface="新細明體" pitchFamily="18" charset="-120"/>
                </a:rPr>
                <a:t>int</a:t>
              </a:r>
              <a:r>
                <a:rPr lang="en-US" altLang="zh-TW" sz="1800" b="0" dirty="0">
                  <a:solidFill>
                    <a:srgbClr val="FF0000"/>
                  </a:solidFill>
                  <a:latin typeface="+mn-lt"/>
                  <a:ea typeface="新細明體" pitchFamily="18" charset="-120"/>
                </a:rPr>
                <a:t> *p = &amp;a;</a:t>
              </a:r>
            </a:p>
            <a:p>
              <a:pPr>
                <a:spcBef>
                  <a:spcPct val="20000"/>
                </a:spcBef>
              </a:pPr>
              <a:r>
                <a:rPr lang="en-US" altLang="zh-TW" sz="1800" b="0" dirty="0" err="1">
                  <a:latin typeface="+mn-lt"/>
                  <a:ea typeface="新細明體" pitchFamily="18" charset="-120"/>
                </a:rPr>
                <a:t>cout</a:t>
              </a:r>
              <a:r>
                <a:rPr lang="en-US" altLang="zh-TW" sz="1800" b="0" dirty="0">
                  <a:latin typeface="+mn-lt"/>
                  <a:ea typeface="新細明體" pitchFamily="18" charset="-120"/>
                </a:rPr>
                <a:t> &lt;&lt; a &lt;&lt; " " &lt;&lt; &amp;a &lt;&lt;</a:t>
              </a:r>
              <a:r>
                <a:rPr lang="en-US" altLang="zh-TW" sz="1800" b="0" dirty="0" err="1" smtClean="0">
                  <a:latin typeface="+mn-lt"/>
                  <a:ea typeface="新細明體" pitchFamily="18" charset="-120"/>
                </a:rPr>
                <a:t>endl</a:t>
              </a:r>
              <a:r>
                <a:rPr lang="en-US" altLang="zh-TW" sz="1800" b="0" dirty="0" smtClean="0">
                  <a:latin typeface="+mn-lt"/>
                  <a:ea typeface="新細明體" pitchFamily="18" charset="-120"/>
                </a:rPr>
                <a:t>;      </a:t>
              </a:r>
              <a:r>
                <a:rPr lang="en-US" altLang="zh-TW" sz="1800" b="1" dirty="0" smtClean="0">
                  <a:solidFill>
                    <a:srgbClr val="00B050"/>
                  </a:solidFill>
                  <a:latin typeface="+mn-lt"/>
                </a:rPr>
                <a:t>//</a:t>
              </a:r>
              <a:r>
                <a:rPr lang="en-US" altLang="zh-TW" sz="1800" b="1" dirty="0">
                  <a:solidFill>
                    <a:srgbClr val="00B050"/>
                  </a:solidFill>
                  <a:latin typeface="+mn-lt"/>
                </a:rPr>
                <a:t>output: </a:t>
              </a:r>
              <a:r>
                <a:rPr lang="en-US" altLang="zh-TW" sz="1800" b="1" dirty="0" smtClean="0">
                  <a:solidFill>
                    <a:srgbClr val="00B050"/>
                  </a:solidFill>
                  <a:latin typeface="+mn-lt"/>
                </a:rPr>
                <a:t>100    1024</a:t>
              </a:r>
              <a:endParaRPr lang="en-US" altLang="zh-TW" sz="1800" b="1" dirty="0">
                <a:solidFill>
                  <a:srgbClr val="00B050"/>
                </a:solidFill>
                <a:latin typeface="+mn-lt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TW" sz="1800" b="0" dirty="0" err="1" smtClean="0">
                  <a:latin typeface="+mn-lt"/>
                  <a:ea typeface="新細明體" pitchFamily="18" charset="-120"/>
                </a:rPr>
                <a:t>cout</a:t>
              </a:r>
              <a:r>
                <a:rPr lang="en-US" altLang="zh-TW" sz="1800" b="0" dirty="0" smtClean="0">
                  <a:latin typeface="+mn-lt"/>
                  <a:ea typeface="新細明體" pitchFamily="18" charset="-120"/>
                </a:rPr>
                <a:t> </a:t>
              </a:r>
              <a:r>
                <a:rPr lang="en-US" altLang="zh-TW" sz="1800" b="0" dirty="0">
                  <a:latin typeface="+mn-lt"/>
                  <a:ea typeface="新細明體" pitchFamily="18" charset="-120"/>
                </a:rPr>
                <a:t>&lt;&lt; p &lt;&lt; " " &lt;&lt; &amp;p &lt;&lt;</a:t>
              </a:r>
              <a:r>
                <a:rPr lang="en-US" altLang="zh-TW" sz="1800" b="0" dirty="0" err="1">
                  <a:latin typeface="+mn-lt"/>
                  <a:ea typeface="新細明體" pitchFamily="18" charset="-120"/>
                </a:rPr>
                <a:t>endl</a:t>
              </a:r>
              <a:r>
                <a:rPr lang="en-US" altLang="zh-TW" sz="1800" b="0" dirty="0" smtClean="0">
                  <a:latin typeface="+mn-lt"/>
                  <a:ea typeface="新細明體" pitchFamily="18" charset="-120"/>
                </a:rPr>
                <a:t>;     </a:t>
              </a:r>
              <a:r>
                <a:rPr lang="en-US" altLang="zh-TW" sz="1800" b="1" dirty="0" smtClean="0">
                  <a:solidFill>
                    <a:srgbClr val="00B050"/>
                  </a:solidFill>
                  <a:latin typeface="+mn-lt"/>
                </a:rPr>
                <a:t>//</a:t>
              </a:r>
              <a:r>
                <a:rPr lang="en-US" altLang="zh-TW" sz="1800" b="1" dirty="0">
                  <a:solidFill>
                    <a:srgbClr val="00B050"/>
                  </a:solidFill>
                  <a:latin typeface="+mn-lt"/>
                </a:rPr>
                <a:t>output: </a:t>
              </a:r>
              <a:r>
                <a:rPr lang="en-US" altLang="zh-TW" sz="1800" b="1" dirty="0" smtClean="0">
                  <a:solidFill>
                    <a:srgbClr val="00B050"/>
                  </a:solidFill>
                  <a:latin typeface="+mn-lt"/>
                </a:rPr>
                <a:t>1024   1032</a:t>
              </a:r>
              <a:endParaRPr lang="en-US" altLang="zh-TW" sz="1800" b="1" dirty="0">
                <a:solidFill>
                  <a:srgbClr val="00B050"/>
                </a:solidFill>
                <a:latin typeface="+mn-lt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TW" sz="1800" dirty="0" err="1" smtClean="0">
                  <a:latin typeface="+mn-lt"/>
                </a:rPr>
                <a:t>cout</a:t>
              </a:r>
              <a:r>
                <a:rPr lang="en-US" altLang="zh-TW" sz="1800" dirty="0" smtClean="0">
                  <a:latin typeface="+mn-lt"/>
                </a:rPr>
                <a:t> </a:t>
              </a:r>
              <a:r>
                <a:rPr lang="en-US" altLang="zh-TW" sz="1800" dirty="0">
                  <a:latin typeface="+mn-lt"/>
                </a:rPr>
                <a:t>&lt;&lt; </a:t>
              </a:r>
              <a:r>
                <a:rPr lang="en-US" altLang="zh-TW" sz="1800" dirty="0" smtClean="0">
                  <a:latin typeface="+mn-lt"/>
                </a:rPr>
                <a:t>*p </a:t>
              </a:r>
              <a:r>
                <a:rPr lang="en-US" altLang="zh-TW" sz="1800" dirty="0">
                  <a:latin typeface="+mn-lt"/>
                </a:rPr>
                <a:t>&lt;&lt; " " &lt;&lt; &amp;p &lt;&lt;</a:t>
              </a:r>
              <a:r>
                <a:rPr lang="en-US" altLang="zh-TW" sz="1800" dirty="0" err="1" smtClean="0">
                  <a:latin typeface="+mn-lt"/>
                </a:rPr>
                <a:t>endl</a:t>
              </a:r>
              <a:r>
                <a:rPr lang="en-US" altLang="zh-TW" sz="1800" dirty="0" smtClean="0">
                  <a:latin typeface="+mn-lt"/>
                </a:rPr>
                <a:t>;   </a:t>
              </a:r>
              <a:r>
                <a:rPr lang="en-US" altLang="zh-TW" sz="1800" b="1" dirty="0" smtClean="0">
                  <a:solidFill>
                    <a:srgbClr val="00B050"/>
                  </a:solidFill>
                  <a:latin typeface="+mn-lt"/>
                </a:rPr>
                <a:t>//</a:t>
              </a:r>
              <a:r>
                <a:rPr lang="en-US" altLang="zh-TW" sz="1800" b="1" dirty="0">
                  <a:solidFill>
                    <a:srgbClr val="00B050"/>
                  </a:solidFill>
                  <a:latin typeface="+mn-lt"/>
                </a:rPr>
                <a:t>output: 100  </a:t>
              </a:r>
              <a:r>
                <a:rPr lang="en-US" altLang="zh-TW" sz="1800" b="1" dirty="0" smtClean="0">
                  <a:solidFill>
                    <a:srgbClr val="00B050"/>
                  </a:solidFill>
                  <a:latin typeface="+mn-lt"/>
                </a:rPr>
                <a:t>   1032</a:t>
              </a:r>
              <a:endParaRPr lang="en-US" altLang="zh-TW" sz="1800" b="1" dirty="0">
                <a:solidFill>
                  <a:srgbClr val="00B050"/>
                </a:solidFill>
                <a:latin typeface="+mn-lt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581819" y="5392739"/>
            <a:ext cx="68953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The value of pointer p is the address of variable a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/>
              <a:t>A pointer is also a variable, so it has its own memory address</a:t>
            </a:r>
          </a:p>
        </p:txBody>
      </p:sp>
    </p:spTree>
    <p:extLst>
      <p:ext uri="{BB962C8B-B14F-4D97-AF65-F5344CB8AC3E}">
        <p14:creationId xmlns:p14="http://schemas.microsoft.com/office/powerpoint/2010/main" xmlns="" val="88058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 Dereferencing Operator </a:t>
            </a:r>
            <a:r>
              <a:rPr lang="en-US" altLang="zh-TW">
                <a:latin typeface="Courier New" pitchFamily="49" charset="0"/>
                <a:ea typeface="新細明體" pitchFamily="18" charset="-120"/>
              </a:rPr>
              <a:t>*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153400" cy="4898962"/>
          </a:xfrm>
        </p:spPr>
        <p:txBody>
          <a:bodyPr/>
          <a:lstStyle/>
          <a:p>
            <a:r>
              <a:rPr lang="en-US" altLang="zh-TW" sz="2400" dirty="0">
                <a:ea typeface="新細明體" pitchFamily="18" charset="-120"/>
              </a:rPr>
              <a:t>We can access to the </a:t>
            </a:r>
            <a:r>
              <a:rPr lang="en-US" altLang="zh-TW" sz="2400" u="sng" dirty="0">
                <a:solidFill>
                  <a:srgbClr val="FF0000"/>
                </a:solidFill>
                <a:ea typeface="新細明體" pitchFamily="18" charset="-120"/>
              </a:rPr>
              <a:t>value stored in the variable pointed </a:t>
            </a:r>
            <a:r>
              <a:rPr lang="en-US" altLang="zh-TW" sz="2400" dirty="0">
                <a:ea typeface="新細明體" pitchFamily="18" charset="-120"/>
              </a:rPr>
              <a:t>to by using the dereferencing operator (</a:t>
            </a:r>
            <a:r>
              <a:rPr lang="en-US" altLang="zh-TW" sz="2400" dirty="0">
                <a:latin typeface="Courier" pitchFamily="49" charset="0"/>
                <a:ea typeface="新細明體" pitchFamily="18" charset="-120"/>
              </a:rPr>
              <a:t>*</a:t>
            </a:r>
            <a:r>
              <a:rPr lang="en-US" altLang="zh-TW" sz="2400" dirty="0">
                <a:ea typeface="新細明體" pitchFamily="18" charset="-120"/>
              </a:rPr>
              <a:t>), </a:t>
            </a:r>
          </a:p>
        </p:txBody>
      </p:sp>
      <p:sp>
        <p:nvSpPr>
          <p:cNvPr id="377861" name="Rectangle 5"/>
          <p:cNvSpPr>
            <a:spLocks noChangeArrowheads="1"/>
          </p:cNvSpPr>
          <p:nvPr/>
        </p:nvSpPr>
        <p:spPr bwMode="auto">
          <a:xfrm>
            <a:off x="3860800" y="33353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2400" b="0">
                <a:latin typeface="Times New Roman" pitchFamily="18" charset="0"/>
                <a:ea typeface="新細明體" pitchFamily="18" charset="-120"/>
              </a:rPr>
              <a:t>100</a:t>
            </a:r>
          </a:p>
        </p:txBody>
      </p:sp>
      <p:sp>
        <p:nvSpPr>
          <p:cNvPr id="377862" name="Rectangle 6"/>
          <p:cNvSpPr>
            <a:spLocks noChangeArrowheads="1"/>
          </p:cNvSpPr>
          <p:nvPr/>
        </p:nvSpPr>
        <p:spPr bwMode="auto">
          <a:xfrm>
            <a:off x="2673350" y="33353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2400" b="0">
                <a:latin typeface="Times New Roman" pitchFamily="18" charset="0"/>
                <a:ea typeface="新細明體" pitchFamily="18" charset="-120"/>
              </a:rPr>
              <a:t>88</a:t>
            </a:r>
          </a:p>
        </p:txBody>
      </p:sp>
      <p:sp>
        <p:nvSpPr>
          <p:cNvPr id="377863" name="Rectangle 7"/>
          <p:cNvSpPr>
            <a:spLocks noChangeArrowheads="1"/>
          </p:cNvSpPr>
          <p:nvPr/>
        </p:nvSpPr>
        <p:spPr bwMode="auto">
          <a:xfrm>
            <a:off x="5048250" y="33353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377864" name="Rectangle 8"/>
          <p:cNvSpPr>
            <a:spLocks noChangeArrowheads="1"/>
          </p:cNvSpPr>
          <p:nvPr/>
        </p:nvSpPr>
        <p:spPr bwMode="auto">
          <a:xfrm>
            <a:off x="6235700" y="33353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2400" b="0">
                <a:latin typeface="Times New Roman" pitchFamily="18" charset="0"/>
                <a:ea typeface="新細明體" pitchFamily="18" charset="-120"/>
              </a:rPr>
              <a:t>1024</a:t>
            </a:r>
          </a:p>
        </p:txBody>
      </p:sp>
      <p:sp>
        <p:nvSpPr>
          <p:cNvPr id="377865" name="Rectangle 9"/>
          <p:cNvSpPr>
            <a:spLocks noChangeArrowheads="1"/>
          </p:cNvSpPr>
          <p:nvPr/>
        </p:nvSpPr>
        <p:spPr bwMode="auto">
          <a:xfrm>
            <a:off x="7423150" y="33353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377866" name="Text Box 10"/>
          <p:cNvSpPr txBox="1">
            <a:spLocks noChangeArrowheads="1"/>
          </p:cNvSpPr>
          <p:nvPr/>
        </p:nvSpPr>
        <p:spPr bwMode="auto">
          <a:xfrm>
            <a:off x="381000" y="2895600"/>
            <a:ext cx="2143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 b="0">
                <a:latin typeface="Arial" charset="0"/>
                <a:ea typeface="新細明體" pitchFamily="18" charset="-120"/>
              </a:rPr>
              <a:t>Memory</a:t>
            </a:r>
            <a:r>
              <a:rPr lang="en-US" altLang="zh-TW" sz="2000">
                <a:latin typeface="Arial" charset="0"/>
                <a:ea typeface="新細明體" pitchFamily="18" charset="-120"/>
              </a:rPr>
              <a:t> </a:t>
            </a:r>
            <a:r>
              <a:rPr lang="en-US" altLang="zh-TW" sz="2000" b="0">
                <a:latin typeface="Arial" charset="0"/>
                <a:ea typeface="新細明體" pitchFamily="18" charset="-120"/>
              </a:rPr>
              <a:t>address:</a:t>
            </a:r>
          </a:p>
        </p:txBody>
      </p:sp>
      <p:sp>
        <p:nvSpPr>
          <p:cNvPr id="377867" name="Text Box 11"/>
          <p:cNvSpPr txBox="1">
            <a:spLocks noChangeArrowheads="1"/>
          </p:cNvSpPr>
          <p:nvPr/>
        </p:nvSpPr>
        <p:spPr bwMode="auto">
          <a:xfrm>
            <a:off x="3938588" y="2895600"/>
            <a:ext cx="973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zh-TW" altLang="en-US" sz="2000" b="0">
                <a:latin typeface="Arial" charset="0"/>
                <a:ea typeface="新細明體" pitchFamily="18" charset="-120"/>
              </a:rPr>
              <a:t>1024</a:t>
            </a:r>
          </a:p>
        </p:txBody>
      </p:sp>
      <p:sp>
        <p:nvSpPr>
          <p:cNvPr id="377868" name="Text Box 12"/>
          <p:cNvSpPr txBox="1">
            <a:spLocks noChangeArrowheads="1"/>
          </p:cNvSpPr>
          <p:nvPr/>
        </p:nvSpPr>
        <p:spPr bwMode="auto">
          <a:xfrm>
            <a:off x="6477000" y="2895600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zh-TW" altLang="en-US" sz="2000" b="0">
                <a:latin typeface="Arial" charset="0"/>
                <a:ea typeface="新細明體" pitchFamily="18" charset="-120"/>
              </a:rPr>
              <a:t>1032</a:t>
            </a:r>
          </a:p>
        </p:txBody>
      </p:sp>
      <p:sp>
        <p:nvSpPr>
          <p:cNvPr id="377871" name="Rectangle 15"/>
          <p:cNvSpPr>
            <a:spLocks noChangeArrowheads="1"/>
          </p:cNvSpPr>
          <p:nvPr/>
        </p:nvSpPr>
        <p:spPr bwMode="auto">
          <a:xfrm>
            <a:off x="1524000" y="3335338"/>
            <a:ext cx="1187450" cy="587375"/>
          </a:xfrm>
          <a:prstGeom prst="rect">
            <a:avLst/>
          </a:prstGeom>
          <a:solidFill>
            <a:srgbClr val="00CCFF"/>
          </a:solidFill>
          <a:ln w="38100" cmpd="dbl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TW" sz="4800" dirty="0">
                <a:latin typeface="Times New Roman" pitchFamily="18" charset="0"/>
                <a:ea typeface="新細明體" pitchFamily="18" charset="-120"/>
              </a:rPr>
              <a:t>…</a:t>
            </a:r>
          </a:p>
        </p:txBody>
      </p:sp>
      <p:sp>
        <p:nvSpPr>
          <p:cNvPr id="377872" name="Text Box 16"/>
          <p:cNvSpPr txBox="1">
            <a:spLocks noChangeArrowheads="1"/>
          </p:cNvSpPr>
          <p:nvPr/>
        </p:nvSpPr>
        <p:spPr bwMode="auto">
          <a:xfrm>
            <a:off x="2667000" y="2895600"/>
            <a:ext cx="973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zh-TW" altLang="en-US" sz="2000" b="0">
                <a:latin typeface="Arial" charset="0"/>
                <a:ea typeface="新細明體" pitchFamily="18" charset="-120"/>
              </a:rPr>
              <a:t>1020</a:t>
            </a:r>
          </a:p>
        </p:txBody>
      </p:sp>
      <p:sp>
        <p:nvSpPr>
          <p:cNvPr id="377877" name="Text Box 21"/>
          <p:cNvSpPr txBox="1">
            <a:spLocks noChangeArrowheads="1"/>
          </p:cNvSpPr>
          <p:nvPr/>
        </p:nvSpPr>
        <p:spPr bwMode="auto">
          <a:xfrm>
            <a:off x="609600" y="4135438"/>
            <a:ext cx="7848600" cy="2363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1800" b="0" dirty="0" err="1">
                <a:latin typeface="+mn-lt"/>
                <a:ea typeface="新細明體" pitchFamily="18" charset="-120"/>
              </a:rPr>
              <a:t>int</a:t>
            </a:r>
            <a:r>
              <a:rPr lang="en-US" altLang="zh-TW" sz="1800" b="0" dirty="0">
                <a:latin typeface="+mn-lt"/>
                <a:ea typeface="新細明體" pitchFamily="18" charset="-120"/>
              </a:rPr>
              <a:t> a = 100;</a:t>
            </a:r>
          </a:p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1800" b="0" dirty="0" err="1">
                <a:latin typeface="+mn-lt"/>
                <a:ea typeface="新細明體" pitchFamily="18" charset="-120"/>
              </a:rPr>
              <a:t>int</a:t>
            </a:r>
            <a:r>
              <a:rPr lang="en-US" altLang="zh-TW" sz="1800" b="0" dirty="0">
                <a:latin typeface="+mn-lt"/>
                <a:ea typeface="新細明體" pitchFamily="18" charset="-120"/>
              </a:rPr>
              <a:t> *p = &amp;a;</a:t>
            </a:r>
          </a:p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1800" b="0" dirty="0" err="1">
                <a:latin typeface="+mn-lt"/>
                <a:ea typeface="新細明體" pitchFamily="18" charset="-120"/>
              </a:rPr>
              <a:t>cout</a:t>
            </a:r>
            <a:r>
              <a:rPr lang="en-US" altLang="zh-TW" sz="1800" b="0" dirty="0">
                <a:latin typeface="+mn-lt"/>
                <a:ea typeface="新細明體" pitchFamily="18" charset="-120"/>
              </a:rPr>
              <a:t> &lt;&lt; a &lt;&lt; </a:t>
            </a:r>
            <a:r>
              <a:rPr lang="en-US" altLang="zh-TW" sz="1800" b="0" dirty="0" err="1">
                <a:latin typeface="+mn-lt"/>
                <a:ea typeface="新細明體" pitchFamily="18" charset="-120"/>
              </a:rPr>
              <a:t>endl</a:t>
            </a:r>
            <a:r>
              <a:rPr lang="en-US" altLang="zh-TW" sz="1800" b="0" dirty="0" smtClean="0">
                <a:latin typeface="+mn-lt"/>
                <a:ea typeface="新細明體" pitchFamily="18" charset="-120"/>
              </a:rPr>
              <a:t>;                        </a:t>
            </a:r>
            <a:r>
              <a:rPr lang="en-US" altLang="zh-TW" sz="1800" b="1" dirty="0" smtClean="0">
                <a:solidFill>
                  <a:srgbClr val="00B050"/>
                </a:solidFill>
                <a:latin typeface="+mn-lt"/>
                <a:ea typeface="新細明體" pitchFamily="18" charset="-120"/>
              </a:rPr>
              <a:t>//output: 100</a:t>
            </a:r>
            <a:endParaRPr lang="en-US" altLang="zh-TW" sz="1800" b="1" dirty="0">
              <a:solidFill>
                <a:srgbClr val="00B050"/>
              </a:solidFill>
              <a:latin typeface="+mn-lt"/>
              <a:ea typeface="新細明體" pitchFamily="18" charset="-120"/>
            </a:endParaRPr>
          </a:p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1800" b="0" dirty="0" err="1">
                <a:latin typeface="+mn-lt"/>
                <a:ea typeface="新細明體" pitchFamily="18" charset="-120"/>
              </a:rPr>
              <a:t>cout</a:t>
            </a:r>
            <a:r>
              <a:rPr lang="en-US" altLang="zh-TW" sz="1800" b="0" dirty="0">
                <a:latin typeface="+mn-lt"/>
                <a:ea typeface="新細明體" pitchFamily="18" charset="-120"/>
              </a:rPr>
              <a:t> &lt;&lt; &amp;a &lt;&lt; </a:t>
            </a:r>
            <a:r>
              <a:rPr lang="en-US" altLang="zh-TW" sz="1800" b="0" dirty="0" err="1">
                <a:latin typeface="+mn-lt"/>
                <a:ea typeface="新細明體" pitchFamily="18" charset="-120"/>
              </a:rPr>
              <a:t>endl</a:t>
            </a:r>
            <a:r>
              <a:rPr lang="en-US" altLang="zh-TW" sz="1800" b="0" dirty="0" smtClean="0">
                <a:latin typeface="+mn-lt"/>
                <a:ea typeface="新細明體" pitchFamily="18" charset="-120"/>
              </a:rPr>
              <a:t>;                     </a:t>
            </a:r>
            <a:r>
              <a:rPr lang="en-US" altLang="zh-TW" sz="1800" b="1" dirty="0" smtClean="0">
                <a:solidFill>
                  <a:srgbClr val="00B050"/>
                </a:solidFill>
                <a:latin typeface="+mn-lt"/>
                <a:ea typeface="新細明體" pitchFamily="18" charset="-120"/>
              </a:rPr>
              <a:t>//output:1024 </a:t>
            </a:r>
            <a:endParaRPr lang="en-US" altLang="zh-TW" sz="1800" b="1" dirty="0">
              <a:solidFill>
                <a:srgbClr val="00B050"/>
              </a:solidFill>
              <a:latin typeface="+mn-lt"/>
              <a:ea typeface="新細明體" pitchFamily="18" charset="-120"/>
            </a:endParaRPr>
          </a:p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1800" b="0" dirty="0" err="1">
                <a:latin typeface="+mn-lt"/>
                <a:ea typeface="新細明體" pitchFamily="18" charset="-120"/>
              </a:rPr>
              <a:t>cout</a:t>
            </a:r>
            <a:r>
              <a:rPr lang="en-US" altLang="zh-TW" sz="1800" b="0" dirty="0">
                <a:latin typeface="+mn-lt"/>
                <a:ea typeface="新細明體" pitchFamily="18" charset="-120"/>
              </a:rPr>
              <a:t> &lt;&lt; p &lt;&lt; " " &lt;&lt; </a:t>
            </a:r>
            <a:r>
              <a:rPr lang="en-US" altLang="zh-TW" sz="1800" b="0" dirty="0">
                <a:solidFill>
                  <a:srgbClr val="FF0000"/>
                </a:solidFill>
                <a:latin typeface="+mn-lt"/>
                <a:ea typeface="新細明體" pitchFamily="18" charset="-120"/>
              </a:rPr>
              <a:t>*p</a:t>
            </a:r>
            <a:r>
              <a:rPr lang="en-US" altLang="zh-TW" sz="1800" b="0" dirty="0">
                <a:latin typeface="+mn-lt"/>
                <a:ea typeface="新細明體" pitchFamily="18" charset="-120"/>
              </a:rPr>
              <a:t> &lt;&lt; </a:t>
            </a:r>
            <a:r>
              <a:rPr lang="en-US" altLang="zh-TW" sz="1800" b="0" dirty="0" err="1">
                <a:latin typeface="+mn-lt"/>
                <a:ea typeface="新細明體" pitchFamily="18" charset="-120"/>
              </a:rPr>
              <a:t>endl</a:t>
            </a:r>
            <a:r>
              <a:rPr lang="en-US" altLang="zh-TW" sz="1800" b="0" dirty="0" smtClean="0">
                <a:latin typeface="+mn-lt"/>
                <a:ea typeface="新細明體" pitchFamily="18" charset="-120"/>
              </a:rPr>
              <a:t>;  </a:t>
            </a:r>
            <a:r>
              <a:rPr lang="en-US" altLang="zh-TW" sz="1800" b="1" dirty="0" smtClean="0">
                <a:solidFill>
                  <a:srgbClr val="00B050"/>
                </a:solidFill>
                <a:latin typeface="+mn-lt"/>
                <a:ea typeface="新細明體" pitchFamily="18" charset="-120"/>
              </a:rPr>
              <a:t>//output: 1024  100</a:t>
            </a:r>
            <a:endParaRPr lang="en-US" altLang="zh-TW" sz="1800" b="1" dirty="0">
              <a:solidFill>
                <a:srgbClr val="00B050"/>
              </a:solidFill>
              <a:latin typeface="+mn-lt"/>
              <a:ea typeface="新細明體" pitchFamily="18" charset="-120"/>
            </a:endParaRPr>
          </a:p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1800" b="0" dirty="0" err="1">
                <a:latin typeface="+mn-lt"/>
                <a:ea typeface="新細明體" pitchFamily="18" charset="-120"/>
              </a:rPr>
              <a:t>cout</a:t>
            </a:r>
            <a:r>
              <a:rPr lang="en-US" altLang="zh-TW" sz="1800" b="0" dirty="0">
                <a:latin typeface="+mn-lt"/>
                <a:ea typeface="新細明體" pitchFamily="18" charset="-120"/>
              </a:rPr>
              <a:t> &lt;&lt; &amp;p &lt;&lt; </a:t>
            </a:r>
            <a:r>
              <a:rPr lang="en-US" altLang="zh-TW" sz="1800" b="0" dirty="0" err="1">
                <a:latin typeface="+mn-lt"/>
                <a:ea typeface="新細明體" pitchFamily="18" charset="-120"/>
              </a:rPr>
              <a:t>endl</a:t>
            </a:r>
            <a:r>
              <a:rPr lang="en-US" altLang="zh-TW" sz="1800" b="0" dirty="0" smtClean="0">
                <a:latin typeface="+mn-lt"/>
                <a:ea typeface="新細明體" pitchFamily="18" charset="-120"/>
              </a:rPr>
              <a:t>;                     </a:t>
            </a:r>
            <a:r>
              <a:rPr lang="en-US" altLang="zh-TW" sz="1800" b="1" dirty="0" smtClean="0">
                <a:solidFill>
                  <a:srgbClr val="00B050"/>
                </a:solidFill>
                <a:latin typeface="+mn-lt"/>
                <a:ea typeface="新細明體" pitchFamily="18" charset="-120"/>
              </a:rPr>
              <a:t>//output: 1032</a:t>
            </a:r>
            <a:endParaRPr lang="en-US" altLang="zh-TW" sz="1800" b="1" dirty="0">
              <a:solidFill>
                <a:srgbClr val="00B050"/>
              </a:solidFill>
              <a:latin typeface="+mn-lt"/>
              <a:ea typeface="新細明體" pitchFamily="18" charset="-120"/>
            </a:endParaRPr>
          </a:p>
          <a:p>
            <a:pPr>
              <a:spcBef>
                <a:spcPct val="20000"/>
              </a:spcBef>
              <a:buFont typeface="Monotype Sorts" pitchFamily="2" charset="2"/>
              <a:buNone/>
            </a:pPr>
            <a:endParaRPr lang="en-US" altLang="zh-TW" sz="1800" b="0" dirty="0">
              <a:latin typeface="+mn-lt"/>
              <a:ea typeface="新細明體" pitchFamily="18" charset="-120"/>
            </a:endParaRPr>
          </a:p>
        </p:txBody>
      </p:sp>
      <p:cxnSp>
        <p:nvCxnSpPr>
          <p:cNvPr id="377882" name="AutoShape 26"/>
          <p:cNvCxnSpPr>
            <a:cxnSpLocks noChangeShapeType="1"/>
            <a:stCxn id="377864" idx="0"/>
            <a:endCxn id="377861" idx="0"/>
          </p:cNvCxnSpPr>
          <p:nvPr/>
        </p:nvCxnSpPr>
        <p:spPr bwMode="auto">
          <a:xfrm rot="16200000" flipH="1" flipV="1">
            <a:off x="5641181" y="2129632"/>
            <a:ext cx="1587" cy="2374900"/>
          </a:xfrm>
          <a:prstGeom prst="curvedConnector3">
            <a:avLst>
              <a:gd name="adj1" fmla="val -13200000"/>
            </a:avLst>
          </a:prstGeom>
          <a:noFill/>
          <a:ln w="31750">
            <a:solidFill>
              <a:schemeClr val="accent2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7901" name="Text Box 45"/>
          <p:cNvSpPr txBox="1">
            <a:spLocks noChangeArrowheads="1"/>
          </p:cNvSpPr>
          <p:nvPr/>
        </p:nvSpPr>
        <p:spPr bwMode="auto">
          <a:xfrm>
            <a:off x="4267200" y="3962400"/>
            <a:ext cx="973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 b="0">
                <a:latin typeface="Arial" charset="0"/>
                <a:ea typeface="新細明體" pitchFamily="18" charset="-120"/>
              </a:rPr>
              <a:t>a</a:t>
            </a:r>
          </a:p>
        </p:txBody>
      </p:sp>
      <p:sp>
        <p:nvSpPr>
          <p:cNvPr id="377902" name="Text Box 46"/>
          <p:cNvSpPr txBox="1">
            <a:spLocks noChangeArrowheads="1"/>
          </p:cNvSpPr>
          <p:nvPr/>
        </p:nvSpPr>
        <p:spPr bwMode="auto">
          <a:xfrm>
            <a:off x="6629400" y="3962400"/>
            <a:ext cx="973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zh-TW" sz="2000" b="0">
                <a:latin typeface="Arial" charset="0"/>
                <a:ea typeface="新細明體" pitchFamily="18" charset="-12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xmlns="" val="2712337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82000" cy="685800"/>
          </a:xfrm>
        </p:spPr>
        <p:txBody>
          <a:bodyPr/>
          <a:lstStyle/>
          <a:p>
            <a:r>
              <a:rPr lang="en-US" altLang="zh-TW" sz="3800" dirty="0">
                <a:ea typeface="新細明體" pitchFamily="18" charset="-120"/>
              </a:rPr>
              <a:t>A Pointer Example</a:t>
            </a:r>
          </a:p>
        </p:txBody>
      </p:sp>
      <p:sp>
        <p:nvSpPr>
          <p:cNvPr id="564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79411" y="2477920"/>
            <a:ext cx="2744789" cy="271145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sz="1700" dirty="0" err="1" smtClean="0">
                <a:ea typeface="新細明體" pitchFamily="18" charset="-120"/>
              </a:rPr>
              <a:t>int</a:t>
            </a:r>
            <a:r>
              <a:rPr lang="en-US" altLang="zh-TW" sz="1700" dirty="0" smtClean="0">
                <a:ea typeface="新細明體" pitchFamily="18" charset="-120"/>
              </a:rPr>
              <a:t> main() </a:t>
            </a:r>
            <a:endParaRPr lang="en-US" altLang="zh-TW" sz="1700" dirty="0">
              <a:ea typeface="新細明體" pitchFamily="18" charset="-120"/>
            </a:endParaRP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sz="1700" dirty="0">
                <a:ea typeface="新細明體" pitchFamily="18" charset="-120"/>
              </a:rPr>
              <a:t>{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sz="1700" dirty="0">
                <a:ea typeface="新細明體" pitchFamily="18" charset="-120"/>
              </a:rPr>
              <a:t>	</a:t>
            </a:r>
            <a:r>
              <a:rPr lang="en-US" altLang="zh-TW" sz="1700" dirty="0" err="1">
                <a:ea typeface="新細明體" pitchFamily="18" charset="-120"/>
              </a:rPr>
              <a:t>int</a:t>
            </a:r>
            <a:r>
              <a:rPr lang="en-US" altLang="zh-TW" sz="1700" dirty="0">
                <a:ea typeface="新細明體" pitchFamily="18" charset="-120"/>
              </a:rPr>
              <a:t> a = 16;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sz="1700" dirty="0">
                <a:ea typeface="新細明體" pitchFamily="18" charset="-120"/>
              </a:rPr>
              <a:t>	</a:t>
            </a:r>
            <a:r>
              <a:rPr lang="en-US" altLang="zh-TW" sz="1700" dirty="0" err="1">
                <a:ea typeface="新細明體" pitchFamily="18" charset="-120"/>
              </a:rPr>
              <a:t>doubleIt</a:t>
            </a:r>
            <a:r>
              <a:rPr lang="en-US" altLang="zh-TW" sz="1700" dirty="0">
                <a:ea typeface="新細明體" pitchFamily="18" charset="-120"/>
              </a:rPr>
              <a:t>(9, </a:t>
            </a:r>
            <a:r>
              <a:rPr lang="en-US" altLang="zh-TW" sz="1700" dirty="0">
                <a:solidFill>
                  <a:srgbClr val="FF0000"/>
                </a:solidFill>
                <a:ea typeface="新細明體" pitchFamily="18" charset="-120"/>
              </a:rPr>
              <a:t>&amp;a</a:t>
            </a:r>
            <a:r>
              <a:rPr lang="en-US" altLang="zh-TW" sz="1700" dirty="0">
                <a:ea typeface="新細明體" pitchFamily="18" charset="-120"/>
              </a:rPr>
              <a:t>);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sz="1700" dirty="0">
                <a:ea typeface="新細明體" pitchFamily="18" charset="-120"/>
              </a:rPr>
              <a:t>	return 0;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sz="1700" dirty="0" smtClean="0">
                <a:ea typeface="新細明體" pitchFamily="18" charset="-120"/>
              </a:rPr>
              <a:t>}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sz="1700" dirty="0"/>
              <a:t>void </a:t>
            </a:r>
            <a:r>
              <a:rPr lang="en-US" altLang="zh-TW" sz="1700" dirty="0" err="1"/>
              <a:t>doubleIt</a:t>
            </a:r>
            <a:r>
              <a:rPr lang="en-US" altLang="zh-TW" sz="1700" dirty="0"/>
              <a:t>(</a:t>
            </a:r>
            <a:r>
              <a:rPr lang="en-US" altLang="zh-TW" sz="1700" dirty="0" err="1"/>
              <a:t>int</a:t>
            </a:r>
            <a:r>
              <a:rPr lang="en-US" altLang="zh-TW" sz="1700" dirty="0"/>
              <a:t> x,  </a:t>
            </a:r>
            <a:r>
              <a:rPr lang="en-US" altLang="zh-TW" sz="1700" dirty="0" err="1">
                <a:solidFill>
                  <a:srgbClr val="FF0000"/>
                </a:solidFill>
              </a:rPr>
              <a:t>int</a:t>
            </a:r>
            <a:r>
              <a:rPr lang="en-US" altLang="zh-TW" sz="1700" dirty="0">
                <a:solidFill>
                  <a:srgbClr val="FF0000"/>
                </a:solidFill>
              </a:rPr>
              <a:t> * p</a:t>
            </a:r>
            <a:r>
              <a:rPr lang="en-US" altLang="zh-TW" sz="1700" dirty="0"/>
              <a:t>)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sz="1700" dirty="0"/>
              <a:t>{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sz="1700" dirty="0"/>
              <a:t>	</a:t>
            </a:r>
            <a:r>
              <a:rPr lang="en-US" altLang="zh-TW" sz="1700" dirty="0">
                <a:solidFill>
                  <a:srgbClr val="FF0000"/>
                </a:solidFill>
              </a:rPr>
              <a:t>*p</a:t>
            </a:r>
            <a:r>
              <a:rPr lang="en-US" altLang="zh-TW" sz="1700" dirty="0"/>
              <a:t> = 2 * x;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r>
              <a:rPr lang="en-US" altLang="zh-TW" sz="1700" dirty="0"/>
              <a:t>}</a:t>
            </a:r>
          </a:p>
          <a:p>
            <a:pPr>
              <a:spcBef>
                <a:spcPts val="0"/>
              </a:spcBef>
              <a:buFont typeface="Monotype Sorts" pitchFamily="2" charset="2"/>
              <a:buNone/>
            </a:pPr>
            <a:endParaRPr lang="en-US" altLang="zh-TW" sz="1700" dirty="0">
              <a:ea typeface="新細明體" pitchFamily="18" charset="-120"/>
            </a:endParaRPr>
          </a:p>
        </p:txBody>
      </p:sp>
      <p:sp>
        <p:nvSpPr>
          <p:cNvPr id="564228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95800" y="1355654"/>
            <a:ext cx="2692400" cy="554038"/>
          </a:xfrm>
        </p:spPr>
        <p:txBody>
          <a:bodyPr>
            <a:normAutofit/>
          </a:bodyPr>
          <a:lstStyle/>
          <a:p>
            <a:pPr algn="ctr">
              <a:buFont typeface="Monotype Sorts" pitchFamily="2" charset="2"/>
              <a:buNone/>
            </a:pPr>
            <a:r>
              <a:rPr lang="en-US" altLang="zh-TW" sz="2400" u="sng" dirty="0">
                <a:ea typeface="新細明體" pitchFamily="18" charset="-120"/>
              </a:rPr>
              <a:t>Box diagram</a:t>
            </a:r>
            <a:endParaRPr lang="en-US" altLang="zh-TW" sz="2400" dirty="0">
              <a:ea typeface="新細明體" pitchFamily="18" charset="-120"/>
            </a:endParaRPr>
          </a:p>
        </p:txBody>
      </p:sp>
      <p:sp>
        <p:nvSpPr>
          <p:cNvPr id="564231" name="Rectangle 7"/>
          <p:cNvSpPr>
            <a:spLocks noChangeArrowheads="1"/>
          </p:cNvSpPr>
          <p:nvPr/>
        </p:nvSpPr>
        <p:spPr bwMode="auto">
          <a:xfrm>
            <a:off x="7512190" y="4464623"/>
            <a:ext cx="609600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latin typeface="Courier New" pitchFamily="49" charset="0"/>
                <a:ea typeface="新細明體" pitchFamily="18" charset="-120"/>
              </a:rPr>
              <a:t>9</a:t>
            </a:r>
          </a:p>
        </p:txBody>
      </p:sp>
      <p:sp>
        <p:nvSpPr>
          <p:cNvPr id="564232" name="Text Box 8"/>
          <p:cNvSpPr txBox="1">
            <a:spLocks noChangeArrowheads="1"/>
          </p:cNvSpPr>
          <p:nvPr/>
        </p:nvSpPr>
        <p:spPr bwMode="auto">
          <a:xfrm>
            <a:off x="7131190" y="4540823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latin typeface="Courier New" pitchFamily="49" charset="0"/>
                <a:ea typeface="新細明體" pitchFamily="18" charset="-120"/>
              </a:rPr>
              <a:t>x</a:t>
            </a:r>
          </a:p>
        </p:txBody>
      </p:sp>
      <p:sp>
        <p:nvSpPr>
          <p:cNvPr id="564236" name="Rectangle 12"/>
          <p:cNvSpPr>
            <a:spLocks noChangeArrowheads="1"/>
          </p:cNvSpPr>
          <p:nvPr/>
        </p:nvSpPr>
        <p:spPr bwMode="auto">
          <a:xfrm>
            <a:off x="7480440" y="2624710"/>
            <a:ext cx="6096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dirty="0">
                <a:latin typeface="Courier New" pitchFamily="49" charset="0"/>
                <a:ea typeface="新細明體" pitchFamily="18" charset="-120"/>
              </a:rPr>
              <a:t>16</a:t>
            </a:r>
          </a:p>
        </p:txBody>
      </p:sp>
      <p:sp>
        <p:nvSpPr>
          <p:cNvPr id="564237" name="Text Box 13"/>
          <p:cNvSpPr txBox="1">
            <a:spLocks noChangeArrowheads="1"/>
          </p:cNvSpPr>
          <p:nvPr/>
        </p:nvSpPr>
        <p:spPr bwMode="auto">
          <a:xfrm>
            <a:off x="6931165" y="2735835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latin typeface="Courier New" pitchFamily="49" charset="0"/>
                <a:ea typeface="新細明體" pitchFamily="18" charset="-120"/>
              </a:rPr>
              <a:t>a</a:t>
            </a:r>
          </a:p>
        </p:txBody>
      </p:sp>
      <p:sp>
        <p:nvSpPr>
          <p:cNvPr id="564238" name="Text Box 14"/>
          <p:cNvSpPr txBox="1">
            <a:spLocks noChangeArrowheads="1"/>
          </p:cNvSpPr>
          <p:nvPr/>
        </p:nvSpPr>
        <p:spPr bwMode="auto">
          <a:xfrm>
            <a:off x="6597790" y="2094882"/>
            <a:ext cx="793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>
                <a:latin typeface="Courier New" pitchFamily="49" charset="0"/>
                <a:ea typeface="新細明體" pitchFamily="18" charset="-120"/>
              </a:rPr>
              <a:t>main</a:t>
            </a:r>
          </a:p>
        </p:txBody>
      </p:sp>
      <p:sp>
        <p:nvSpPr>
          <p:cNvPr id="564239" name="Text Box 15"/>
          <p:cNvSpPr txBox="1">
            <a:spLocks noChangeArrowheads="1"/>
          </p:cNvSpPr>
          <p:nvPr/>
        </p:nvSpPr>
        <p:spPr bwMode="auto">
          <a:xfrm>
            <a:off x="6521590" y="3855023"/>
            <a:ext cx="1403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>
                <a:latin typeface="Courier New" pitchFamily="49" charset="0"/>
                <a:ea typeface="新細明體" pitchFamily="18" charset="-120"/>
              </a:rPr>
              <a:t>doubleIt</a:t>
            </a:r>
          </a:p>
        </p:txBody>
      </p:sp>
      <p:sp>
        <p:nvSpPr>
          <p:cNvPr id="564240" name="Rectangle 16"/>
          <p:cNvSpPr>
            <a:spLocks noChangeArrowheads="1"/>
          </p:cNvSpPr>
          <p:nvPr/>
        </p:nvSpPr>
        <p:spPr bwMode="auto">
          <a:xfrm>
            <a:off x="7527814" y="5496498"/>
            <a:ext cx="657225" cy="5005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41" name="Text Box 17"/>
          <p:cNvSpPr txBox="1">
            <a:spLocks noChangeArrowheads="1"/>
          </p:cNvSpPr>
          <p:nvPr/>
        </p:nvSpPr>
        <p:spPr bwMode="auto">
          <a:xfrm>
            <a:off x="7146815" y="5572698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i="1">
                <a:latin typeface="Courier New" pitchFamily="49" charset="0"/>
                <a:ea typeface="新細明體" pitchFamily="18" charset="-120"/>
              </a:rPr>
              <a:t>p</a:t>
            </a:r>
          </a:p>
        </p:txBody>
      </p:sp>
      <p:cxnSp>
        <p:nvCxnSpPr>
          <p:cNvPr id="564242" name="AutoShape 18"/>
          <p:cNvCxnSpPr>
            <a:cxnSpLocks noChangeShapeType="1"/>
            <a:stCxn id="564240" idx="3"/>
            <a:endCxn id="564236" idx="3"/>
          </p:cNvCxnSpPr>
          <p:nvPr/>
        </p:nvCxnSpPr>
        <p:spPr bwMode="auto">
          <a:xfrm flipH="1" flipV="1">
            <a:off x="8090040" y="2929510"/>
            <a:ext cx="94999" cy="2817240"/>
          </a:xfrm>
          <a:prstGeom prst="curvedConnector3">
            <a:avLst>
              <a:gd name="adj1" fmla="val -240634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4251" name="Text Box 27"/>
          <p:cNvSpPr txBox="1">
            <a:spLocks noChangeArrowheads="1"/>
          </p:cNvSpPr>
          <p:nvPr/>
        </p:nvSpPr>
        <p:spPr bwMode="auto">
          <a:xfrm>
            <a:off x="7721451" y="2587645"/>
            <a:ext cx="463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0" dirty="0" smtClean="0">
                <a:latin typeface="Tahoma" pitchFamily="34" charset="0"/>
                <a:ea typeface="新細明體" pitchFamily="18" charset="-120"/>
              </a:rPr>
              <a:t>18</a:t>
            </a:r>
            <a:endParaRPr lang="en-US" altLang="zh-TW" sz="2000" b="0" dirty="0"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28" name="Rectangle 4"/>
          <p:cNvSpPr txBox="1">
            <a:spLocks noChangeArrowheads="1"/>
          </p:cNvSpPr>
          <p:nvPr/>
        </p:nvSpPr>
        <p:spPr>
          <a:xfrm>
            <a:off x="399167" y="1487099"/>
            <a:ext cx="1676400" cy="554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zh-TW" sz="2400" u="sng" dirty="0" smtClean="0">
                <a:ea typeface="新細明體" pitchFamily="18" charset="-120"/>
              </a:rPr>
              <a:t>The Code</a:t>
            </a:r>
            <a:endParaRPr lang="en-US" altLang="zh-TW" sz="2400" dirty="0">
              <a:ea typeface="新細明體" pitchFamily="18" charset="-120"/>
            </a:endParaRPr>
          </a:p>
        </p:txBody>
      </p:sp>
      <p:sp>
        <p:nvSpPr>
          <p:cNvPr id="29" name="Text Box 24"/>
          <p:cNvSpPr txBox="1">
            <a:spLocks noChangeArrowheads="1"/>
          </p:cNvSpPr>
          <p:nvPr/>
        </p:nvSpPr>
        <p:spPr bwMode="auto">
          <a:xfrm>
            <a:off x="7435740" y="5600127"/>
            <a:ext cx="793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i="1" dirty="0">
                <a:latin typeface="Courier New" pitchFamily="49" charset="0"/>
                <a:ea typeface="新細明體" pitchFamily="18" charset="-120"/>
              </a:rPr>
              <a:t>8192</a:t>
            </a:r>
          </a:p>
        </p:txBody>
      </p:sp>
      <p:sp>
        <p:nvSpPr>
          <p:cNvPr id="30" name="Text Box 24"/>
          <p:cNvSpPr txBox="1">
            <a:spLocks noChangeArrowheads="1"/>
          </p:cNvSpPr>
          <p:nvPr/>
        </p:nvSpPr>
        <p:spPr bwMode="auto">
          <a:xfrm>
            <a:off x="7343915" y="2333228"/>
            <a:ext cx="793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i="1" dirty="0">
                <a:latin typeface="Courier New" pitchFamily="49" charset="0"/>
                <a:ea typeface="新細明體" pitchFamily="18" charset="-120"/>
              </a:rPr>
              <a:t>8192</a:t>
            </a: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auto">
          <a:xfrm>
            <a:off x="7448940" y="4166482"/>
            <a:ext cx="7360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i="1" dirty="0" smtClean="0">
                <a:latin typeface="Courier New" pitchFamily="49" charset="0"/>
                <a:ea typeface="新細明體" pitchFamily="18" charset="-120"/>
              </a:rPr>
              <a:t>8196</a:t>
            </a:r>
            <a:endParaRPr lang="en-US" altLang="zh-TW" b="0" i="1" dirty="0">
              <a:latin typeface="Courier New" pitchFamily="49" charset="0"/>
              <a:ea typeface="新細明體" pitchFamily="18" charset="-120"/>
            </a:endParaRPr>
          </a:p>
        </p:txBody>
      </p:sp>
      <p:sp>
        <p:nvSpPr>
          <p:cNvPr id="33" name="Text Box 24"/>
          <p:cNvSpPr txBox="1">
            <a:spLocks noChangeArrowheads="1"/>
          </p:cNvSpPr>
          <p:nvPr/>
        </p:nvSpPr>
        <p:spPr bwMode="auto">
          <a:xfrm>
            <a:off x="7433317" y="5222610"/>
            <a:ext cx="7360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i="1" dirty="0" smtClean="0">
                <a:latin typeface="Courier New" pitchFamily="49" charset="0"/>
                <a:ea typeface="新細明體" pitchFamily="18" charset="-120"/>
              </a:rPr>
              <a:t>8200</a:t>
            </a:r>
            <a:endParaRPr lang="en-US" altLang="zh-TW" b="0" i="1" dirty="0">
              <a:latin typeface="Courier New" pitchFamily="49" charset="0"/>
              <a:ea typeface="新細明體" pitchFamily="18" charset="-12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7664590" y="2730103"/>
            <a:ext cx="260350" cy="385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7715287" y="2714472"/>
            <a:ext cx="155325" cy="4537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4272529" y="4371579"/>
            <a:ext cx="609600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latin typeface="Courier New" pitchFamily="49" charset="0"/>
                <a:ea typeface="新細明體" pitchFamily="18" charset="-120"/>
              </a:rPr>
              <a:t>9</a:t>
            </a: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3891529" y="4447779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latin typeface="Courier New" pitchFamily="49" charset="0"/>
                <a:ea typeface="新細明體" pitchFamily="18" charset="-120"/>
              </a:rPr>
              <a:t>x</a:t>
            </a:r>
          </a:p>
        </p:txBody>
      </p:sp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4240779" y="2531666"/>
            <a:ext cx="6096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dirty="0">
                <a:latin typeface="Courier New" pitchFamily="49" charset="0"/>
                <a:ea typeface="新細明體" pitchFamily="18" charset="-120"/>
              </a:rPr>
              <a:t>16</a:t>
            </a:r>
          </a:p>
        </p:txBody>
      </p:sp>
      <p:sp>
        <p:nvSpPr>
          <p:cNvPr id="25" name="Text Box 13"/>
          <p:cNvSpPr txBox="1">
            <a:spLocks noChangeArrowheads="1"/>
          </p:cNvSpPr>
          <p:nvPr/>
        </p:nvSpPr>
        <p:spPr bwMode="auto">
          <a:xfrm>
            <a:off x="3691504" y="2642791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>
                <a:latin typeface="Courier New" pitchFamily="49" charset="0"/>
                <a:ea typeface="新細明體" pitchFamily="18" charset="-120"/>
              </a:rPr>
              <a:t>a</a:t>
            </a:r>
          </a:p>
        </p:txBody>
      </p:sp>
      <p:sp>
        <p:nvSpPr>
          <p:cNvPr id="26" name="Text Box 14"/>
          <p:cNvSpPr txBox="1">
            <a:spLocks noChangeArrowheads="1"/>
          </p:cNvSpPr>
          <p:nvPr/>
        </p:nvSpPr>
        <p:spPr bwMode="auto">
          <a:xfrm>
            <a:off x="3358129" y="2001838"/>
            <a:ext cx="793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dirty="0">
                <a:latin typeface="Courier New" pitchFamily="49" charset="0"/>
                <a:ea typeface="新細明體" pitchFamily="18" charset="-120"/>
              </a:rPr>
              <a:t>main</a:t>
            </a:r>
          </a:p>
        </p:txBody>
      </p:sp>
      <p:sp>
        <p:nvSpPr>
          <p:cNvPr id="27" name="Text Box 15"/>
          <p:cNvSpPr txBox="1">
            <a:spLocks noChangeArrowheads="1"/>
          </p:cNvSpPr>
          <p:nvPr/>
        </p:nvSpPr>
        <p:spPr bwMode="auto">
          <a:xfrm>
            <a:off x="3281929" y="3761979"/>
            <a:ext cx="1403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>
                <a:latin typeface="Courier New" pitchFamily="49" charset="0"/>
                <a:ea typeface="新細明體" pitchFamily="18" charset="-120"/>
              </a:rPr>
              <a:t>doubleIt</a:t>
            </a:r>
          </a:p>
        </p:txBody>
      </p:sp>
      <p:sp>
        <p:nvSpPr>
          <p:cNvPr id="31" name="Rectangle 16"/>
          <p:cNvSpPr>
            <a:spLocks noChangeArrowheads="1"/>
          </p:cNvSpPr>
          <p:nvPr/>
        </p:nvSpPr>
        <p:spPr bwMode="auto">
          <a:xfrm>
            <a:off x="4288153" y="5403454"/>
            <a:ext cx="657225" cy="5005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17"/>
          <p:cNvSpPr txBox="1">
            <a:spLocks noChangeArrowheads="1"/>
          </p:cNvSpPr>
          <p:nvPr/>
        </p:nvSpPr>
        <p:spPr bwMode="auto">
          <a:xfrm>
            <a:off x="3907154" y="5479654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i="1">
                <a:latin typeface="Courier New" pitchFamily="49" charset="0"/>
                <a:ea typeface="新細明體" pitchFamily="18" charset="-120"/>
              </a:rPr>
              <a:t>p</a:t>
            </a:r>
          </a:p>
        </p:txBody>
      </p:sp>
      <p:sp>
        <p:nvSpPr>
          <p:cNvPr id="37" name="Text Box 24"/>
          <p:cNvSpPr txBox="1">
            <a:spLocks noChangeArrowheads="1"/>
          </p:cNvSpPr>
          <p:nvPr/>
        </p:nvSpPr>
        <p:spPr bwMode="auto">
          <a:xfrm>
            <a:off x="4196079" y="5507083"/>
            <a:ext cx="793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i="1" dirty="0">
                <a:latin typeface="Courier New" pitchFamily="49" charset="0"/>
                <a:ea typeface="新細明體" pitchFamily="18" charset="-120"/>
              </a:rPr>
              <a:t>8192</a:t>
            </a:r>
          </a:p>
        </p:txBody>
      </p:sp>
      <p:sp>
        <p:nvSpPr>
          <p:cNvPr id="39" name="Text Box 24"/>
          <p:cNvSpPr txBox="1">
            <a:spLocks noChangeArrowheads="1"/>
          </p:cNvSpPr>
          <p:nvPr/>
        </p:nvSpPr>
        <p:spPr bwMode="auto">
          <a:xfrm>
            <a:off x="4104254" y="2240184"/>
            <a:ext cx="793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i="1" dirty="0">
                <a:latin typeface="Courier New" pitchFamily="49" charset="0"/>
                <a:ea typeface="新細明體" pitchFamily="18" charset="-120"/>
              </a:rPr>
              <a:t>8192</a:t>
            </a:r>
          </a:p>
        </p:txBody>
      </p:sp>
      <p:sp>
        <p:nvSpPr>
          <p:cNvPr id="40" name="Text Box 24"/>
          <p:cNvSpPr txBox="1">
            <a:spLocks noChangeArrowheads="1"/>
          </p:cNvSpPr>
          <p:nvPr/>
        </p:nvSpPr>
        <p:spPr bwMode="auto">
          <a:xfrm>
            <a:off x="4209279" y="4073438"/>
            <a:ext cx="7360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i="1" dirty="0" smtClean="0">
                <a:latin typeface="Courier New" pitchFamily="49" charset="0"/>
                <a:ea typeface="新細明體" pitchFamily="18" charset="-120"/>
              </a:rPr>
              <a:t>8196</a:t>
            </a:r>
            <a:endParaRPr lang="en-US" altLang="zh-TW" b="0" i="1" dirty="0">
              <a:latin typeface="Courier New" pitchFamily="49" charset="0"/>
              <a:ea typeface="新細明體" pitchFamily="18" charset="-120"/>
            </a:endParaRPr>
          </a:p>
        </p:txBody>
      </p:sp>
      <p:sp>
        <p:nvSpPr>
          <p:cNvPr id="41" name="Text Box 24"/>
          <p:cNvSpPr txBox="1">
            <a:spLocks noChangeArrowheads="1"/>
          </p:cNvSpPr>
          <p:nvPr/>
        </p:nvSpPr>
        <p:spPr bwMode="auto">
          <a:xfrm>
            <a:off x="4193656" y="5129566"/>
            <a:ext cx="7360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b="0" i="1" dirty="0" smtClean="0">
                <a:latin typeface="Courier New" pitchFamily="49" charset="0"/>
                <a:ea typeface="新細明體" pitchFamily="18" charset="-120"/>
              </a:rPr>
              <a:t>8200</a:t>
            </a:r>
            <a:endParaRPr lang="en-US" altLang="zh-TW" b="0" i="1" dirty="0">
              <a:latin typeface="Courier New" pitchFamily="49" charset="0"/>
              <a:ea typeface="新細明體" pitchFamily="18" charset="-120"/>
            </a:endParaRPr>
          </a:p>
        </p:txBody>
      </p:sp>
      <p:cxnSp>
        <p:nvCxnSpPr>
          <p:cNvPr id="44" name="AutoShape 18"/>
          <p:cNvCxnSpPr>
            <a:cxnSpLocks noChangeShapeType="1"/>
          </p:cNvCxnSpPr>
          <p:nvPr/>
        </p:nvCxnSpPr>
        <p:spPr bwMode="auto">
          <a:xfrm flipH="1" flipV="1">
            <a:off x="4808394" y="2789533"/>
            <a:ext cx="94999" cy="2817240"/>
          </a:xfrm>
          <a:prstGeom prst="curvedConnector3">
            <a:avLst>
              <a:gd name="adj1" fmla="val -240634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Rectangle 2"/>
          <p:cNvSpPr/>
          <p:nvPr/>
        </p:nvSpPr>
        <p:spPr>
          <a:xfrm>
            <a:off x="3281929" y="1909692"/>
            <a:ext cx="2356871" cy="42625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6254881" y="1922206"/>
            <a:ext cx="2356871" cy="42625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1249909" y="4904979"/>
            <a:ext cx="0" cy="1495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253067" y="6400800"/>
            <a:ext cx="6232414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7480440" y="5903958"/>
            <a:ext cx="0" cy="496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9262399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Don’t get confused</a:t>
            </a:r>
          </a:p>
        </p:txBody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1752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Declaring a pointer means only that it is a pointer: </a:t>
            </a:r>
            <a:r>
              <a:rPr lang="en-US" altLang="zh-TW" sz="2400" dirty="0" err="1">
                <a:latin typeface="Courier New" pitchFamily="49" charset="0"/>
                <a:ea typeface="新細明體" pitchFamily="18" charset="-120"/>
              </a:rPr>
              <a:t>int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 *p;</a:t>
            </a: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Don’t be confused with the dereferencing operator, which is also written with an asterisk (</a:t>
            </a:r>
            <a:r>
              <a:rPr lang="en-US" altLang="zh-TW" sz="2400" dirty="0">
                <a:latin typeface="Courier" pitchFamily="49" charset="0"/>
                <a:ea typeface="新細明體" pitchFamily="18" charset="-120"/>
              </a:rPr>
              <a:t>*</a:t>
            </a:r>
            <a:r>
              <a:rPr lang="en-US" altLang="zh-TW" sz="2400" dirty="0">
                <a:ea typeface="新細明體" pitchFamily="18" charset="-120"/>
              </a:rPr>
              <a:t>). They are simply two different tasks represented with the same sign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400" dirty="0">
                <a:ea typeface="新細明體" pitchFamily="18" charset="-120"/>
              </a:rPr>
              <a:t>	</a:t>
            </a:r>
            <a:r>
              <a:rPr lang="en-US" altLang="zh-TW" sz="2000" dirty="0">
                <a:latin typeface="Courier" pitchFamily="49" charset="0"/>
                <a:ea typeface="新細明體" pitchFamily="18" charset="-120"/>
              </a:rPr>
              <a:t>	</a:t>
            </a:r>
            <a:endParaRPr lang="en-US" altLang="zh-TW" sz="2400" dirty="0">
              <a:latin typeface="Courier New" pitchFamily="49" charset="0"/>
              <a:ea typeface="新細明體" pitchFamily="18" charset="-12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90600" y="3276600"/>
            <a:ext cx="487680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sz="2000" dirty="0" err="1"/>
              <a:t>int</a:t>
            </a:r>
            <a:r>
              <a:rPr lang="en-US" altLang="zh-TW" sz="2000" dirty="0"/>
              <a:t> a = 100, b = 88, c = 8;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sz="2000" dirty="0" err="1" smtClean="0"/>
              <a:t>int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*p1 = &amp;a, *p2, </a:t>
            </a:r>
            <a:r>
              <a:rPr lang="en-US" altLang="zh-TW" sz="2000" dirty="0">
                <a:solidFill>
                  <a:srgbClr val="FF0000"/>
                </a:solidFill>
              </a:rPr>
              <a:t>*p3</a:t>
            </a:r>
            <a:r>
              <a:rPr lang="en-US" altLang="zh-TW" sz="2000" dirty="0"/>
              <a:t> = &amp;c;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sz="2000" dirty="0" smtClean="0"/>
              <a:t>p2 </a:t>
            </a:r>
            <a:r>
              <a:rPr lang="en-US" altLang="zh-TW" sz="2000" dirty="0"/>
              <a:t>= &amp;b</a:t>
            </a:r>
            <a:r>
              <a:rPr lang="en-US" altLang="zh-TW" sz="2000" dirty="0" smtClean="0"/>
              <a:t>;	</a:t>
            </a:r>
            <a:r>
              <a:rPr lang="en-US" altLang="zh-TW" sz="2000" dirty="0"/>
              <a:t>	</a:t>
            </a:r>
            <a:r>
              <a:rPr lang="en-US" altLang="zh-TW" sz="2000" dirty="0" smtClean="0"/>
              <a:t>    </a:t>
            </a:r>
            <a:r>
              <a:rPr lang="en-US" altLang="zh-TW" sz="2000" dirty="0" smtClean="0">
                <a:solidFill>
                  <a:srgbClr val="00B050"/>
                </a:solidFill>
              </a:rPr>
              <a:t>// </a:t>
            </a:r>
            <a:r>
              <a:rPr lang="en-US" altLang="zh-TW" sz="2000" dirty="0">
                <a:solidFill>
                  <a:srgbClr val="00B050"/>
                </a:solidFill>
              </a:rPr>
              <a:t>p2 points to b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sz="2000" dirty="0" smtClean="0"/>
              <a:t>p2 </a:t>
            </a:r>
            <a:r>
              <a:rPr lang="en-US" altLang="zh-TW" sz="2000" dirty="0"/>
              <a:t>= p1; 	</a:t>
            </a:r>
            <a:r>
              <a:rPr lang="en-US" altLang="zh-TW" sz="2000" dirty="0" smtClean="0"/>
              <a:t>	    </a:t>
            </a:r>
            <a:r>
              <a:rPr lang="en-US" altLang="zh-TW" sz="2000" dirty="0" smtClean="0">
                <a:solidFill>
                  <a:srgbClr val="00B050"/>
                </a:solidFill>
              </a:rPr>
              <a:t>// </a:t>
            </a:r>
            <a:r>
              <a:rPr lang="en-US" altLang="zh-TW" sz="2000" dirty="0">
                <a:solidFill>
                  <a:srgbClr val="00B050"/>
                </a:solidFill>
              </a:rPr>
              <a:t>p2 points to a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sz="2000" dirty="0" smtClean="0"/>
              <a:t>b </a:t>
            </a:r>
            <a:r>
              <a:rPr lang="en-US" altLang="zh-TW" sz="2000" dirty="0"/>
              <a:t>= </a:t>
            </a:r>
            <a:r>
              <a:rPr lang="en-US" altLang="zh-TW" sz="2000" dirty="0">
                <a:solidFill>
                  <a:srgbClr val="FF0000"/>
                </a:solidFill>
              </a:rPr>
              <a:t>*p3</a:t>
            </a:r>
            <a:r>
              <a:rPr lang="en-US" altLang="zh-TW" sz="2000" dirty="0"/>
              <a:t>;	</a:t>
            </a:r>
            <a:r>
              <a:rPr lang="en-US" altLang="zh-TW" sz="2000" dirty="0" smtClean="0"/>
              <a:t>	    </a:t>
            </a:r>
            <a:r>
              <a:rPr lang="en-US" altLang="zh-TW" sz="2000" dirty="0" smtClean="0">
                <a:solidFill>
                  <a:srgbClr val="00B050"/>
                </a:solidFill>
              </a:rPr>
              <a:t>//</a:t>
            </a:r>
            <a:r>
              <a:rPr lang="en-US" altLang="zh-TW" sz="2000" dirty="0">
                <a:solidFill>
                  <a:srgbClr val="00B050"/>
                </a:solidFill>
              </a:rPr>
              <a:t>assign c to b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sz="2000" dirty="0" smtClean="0"/>
              <a:t>*</a:t>
            </a:r>
            <a:r>
              <a:rPr lang="en-US" altLang="zh-TW" sz="2000" dirty="0"/>
              <a:t>p2 = *p3;	 </a:t>
            </a:r>
            <a:r>
              <a:rPr lang="en-US" altLang="zh-TW" sz="2000" dirty="0" smtClean="0"/>
              <a:t>   </a:t>
            </a:r>
            <a:r>
              <a:rPr lang="en-US" altLang="zh-TW" sz="2000" dirty="0" smtClean="0">
                <a:solidFill>
                  <a:srgbClr val="00B050"/>
                </a:solidFill>
              </a:rPr>
              <a:t>//</a:t>
            </a:r>
            <a:r>
              <a:rPr lang="en-US" altLang="zh-TW" sz="2000" dirty="0">
                <a:solidFill>
                  <a:srgbClr val="00B050"/>
                </a:solidFill>
              </a:rPr>
              <a:t>assign c to a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sz="2000" dirty="0" err="1" smtClean="0"/>
              <a:t>cout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&lt;&lt; a &lt;&lt; b &lt;&lt; c; </a:t>
            </a:r>
            <a:r>
              <a:rPr lang="en-US" altLang="zh-TW" sz="2000" b="1" dirty="0">
                <a:solidFill>
                  <a:srgbClr val="00B050"/>
                </a:solidFill>
              </a:rPr>
              <a:t>//</a:t>
            </a:r>
            <a:r>
              <a:rPr lang="en-US" altLang="zh-TW" sz="2000" b="1" dirty="0" smtClean="0">
                <a:solidFill>
                  <a:srgbClr val="00B050"/>
                </a:solidFill>
              </a:rPr>
              <a:t>output ? 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xmlns="" val="1459379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41954773"/>
              </p:ext>
            </p:extLst>
          </p:nvPr>
        </p:nvGraphicFramePr>
        <p:xfrm>
          <a:off x="4356463" y="1922674"/>
          <a:ext cx="4038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240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53082" y="2298564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030780" y="229291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3036" y="229856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235632" y="1543905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1000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154390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1008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945832" y="153766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1012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729032" y="1828800"/>
            <a:ext cx="2971800" cy="276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>
                <a:solidFill>
                  <a:srgbClr val="FF0000"/>
                </a:solidFill>
              </a:rPr>
              <a:t>int</a:t>
            </a:r>
            <a:r>
              <a:rPr lang="en-US" altLang="zh-TW" dirty="0">
                <a:solidFill>
                  <a:srgbClr val="FF0000"/>
                </a:solidFill>
              </a:rPr>
              <a:t> a = 100, b = 88, c = 8;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*p1 = &amp;a, *p2, *p3 = &amp;c;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p2 = &amp;b;		</a:t>
            </a:r>
            <a:r>
              <a:rPr lang="en-US" altLang="zh-TW" dirty="0" smtClean="0"/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p2 = p1; 		 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b </a:t>
            </a:r>
            <a:r>
              <a:rPr lang="en-US" altLang="zh-TW" dirty="0"/>
              <a:t>= *p3;		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*p2 = *p3;	 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cout</a:t>
            </a:r>
            <a:r>
              <a:rPr lang="en-US" altLang="zh-TW" dirty="0"/>
              <a:t> &lt;&lt; a &lt;&lt; b &lt;&lt; c; </a:t>
            </a:r>
            <a:r>
              <a:rPr lang="en-US" altLang="zh-TW" b="1" dirty="0" smtClean="0"/>
              <a:t> 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xmlns="" val="985892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74696968"/>
              </p:ext>
            </p:extLst>
          </p:nvPr>
        </p:nvGraphicFramePr>
        <p:xfrm>
          <a:off x="4356463" y="1922674"/>
          <a:ext cx="4038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240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53082" y="2298564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030780" y="229291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3036" y="229856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235632" y="1543905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1000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154390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1008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945832" y="153766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1012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729032" y="1828800"/>
            <a:ext cx="2971800" cy="356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a = 100, b = 88, c = 8;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>
                <a:solidFill>
                  <a:srgbClr val="FF0000"/>
                </a:solidFill>
              </a:rPr>
              <a:t>int</a:t>
            </a:r>
            <a:r>
              <a:rPr lang="en-US" altLang="zh-TW" dirty="0">
                <a:solidFill>
                  <a:srgbClr val="FF0000"/>
                </a:solidFill>
              </a:rPr>
              <a:t> *p1 = &amp;</a:t>
            </a:r>
            <a:r>
              <a:rPr lang="en-US" altLang="zh-TW" dirty="0" smtClean="0">
                <a:solidFill>
                  <a:srgbClr val="FF0000"/>
                </a:solidFill>
              </a:rPr>
              <a:t>a;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*p2;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*p3 </a:t>
            </a:r>
            <a:r>
              <a:rPr lang="en-US" altLang="zh-TW" dirty="0"/>
              <a:t>= &amp;c;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p2 = &amp;b;		</a:t>
            </a:r>
            <a:r>
              <a:rPr lang="en-US" altLang="zh-TW" dirty="0" smtClean="0"/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p2 = p1; 		 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b </a:t>
            </a:r>
            <a:r>
              <a:rPr lang="en-US" altLang="zh-TW" dirty="0"/>
              <a:t>= *p3;		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*p2 = *p3;	 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cout</a:t>
            </a:r>
            <a:r>
              <a:rPr lang="en-US" altLang="zh-TW" dirty="0"/>
              <a:t> &lt;&lt; a &lt;&lt; b &lt;&lt; c; </a:t>
            </a:r>
            <a:r>
              <a:rPr lang="en-US" altLang="zh-TW" b="1" dirty="0" smtClean="0"/>
              <a:t> </a:t>
            </a:r>
            <a:endParaRPr lang="en-US" altLang="zh-TW" sz="20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93530693"/>
              </p:ext>
            </p:extLst>
          </p:nvPr>
        </p:nvGraphicFramePr>
        <p:xfrm>
          <a:off x="4386810" y="3350569"/>
          <a:ext cx="1143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1000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44092" y="368177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p1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265979" y="297180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dirty="0" smtClean="0"/>
              <a:t>000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28577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74696968"/>
              </p:ext>
            </p:extLst>
          </p:nvPr>
        </p:nvGraphicFramePr>
        <p:xfrm>
          <a:off x="4356463" y="1922674"/>
          <a:ext cx="4038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240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53082" y="2298564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030780" y="229291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3036" y="229856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235632" y="1543905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1000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154390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1008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945832" y="153766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1012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729032" y="1828800"/>
            <a:ext cx="2971800" cy="356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a = 100, b = 88, c = 8;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*p1 = &amp;</a:t>
            </a:r>
            <a:r>
              <a:rPr lang="en-US" altLang="zh-TW" dirty="0" smtClean="0"/>
              <a:t>a;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>
                <a:solidFill>
                  <a:srgbClr val="FF0000"/>
                </a:solidFill>
              </a:rPr>
              <a:t>Int</a:t>
            </a:r>
            <a:r>
              <a:rPr lang="en-US" altLang="zh-TW" dirty="0" smtClean="0">
                <a:solidFill>
                  <a:srgbClr val="FF0000"/>
                </a:solidFill>
              </a:rPr>
              <a:t> *p2;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*p3 </a:t>
            </a:r>
            <a:r>
              <a:rPr lang="en-US" altLang="zh-TW" dirty="0"/>
              <a:t>= &amp;c;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p2 = &amp;b;		</a:t>
            </a:r>
            <a:r>
              <a:rPr lang="en-US" altLang="zh-TW" dirty="0" smtClean="0"/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p2 = p1; 		 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b </a:t>
            </a:r>
            <a:r>
              <a:rPr lang="en-US" altLang="zh-TW" dirty="0"/>
              <a:t>= *p3;		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*p2 = *p3;	 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cout</a:t>
            </a:r>
            <a:r>
              <a:rPr lang="en-US" altLang="zh-TW" dirty="0"/>
              <a:t> &lt;&lt; a &lt;&lt; b &lt;&lt; c; </a:t>
            </a:r>
            <a:r>
              <a:rPr lang="en-US" altLang="zh-TW" b="1" dirty="0" smtClean="0"/>
              <a:t> </a:t>
            </a:r>
            <a:endParaRPr lang="en-US" altLang="zh-TW" sz="20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32867141"/>
              </p:ext>
            </p:extLst>
          </p:nvPr>
        </p:nvGraphicFramePr>
        <p:xfrm>
          <a:off x="4386810" y="3350569"/>
          <a:ext cx="21663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038"/>
                <a:gridCol w="110435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44092" y="368177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p1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265979" y="297180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dirty="0" smtClean="0"/>
              <a:t>000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5611933" y="3677090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p2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535165" y="299911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2008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1418373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74696968"/>
              </p:ext>
            </p:extLst>
          </p:nvPr>
        </p:nvGraphicFramePr>
        <p:xfrm>
          <a:off x="4356463" y="1922674"/>
          <a:ext cx="4038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240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53082" y="2298564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030780" y="229291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3036" y="229856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235632" y="1543905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1000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154390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1008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945832" y="153766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1012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729032" y="1828800"/>
            <a:ext cx="2971800" cy="356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a = 100, b = 88, c = 8;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*p1 = &amp;</a:t>
            </a:r>
            <a:r>
              <a:rPr lang="en-US" altLang="zh-TW" dirty="0" smtClean="0"/>
              <a:t>a;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*p2;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>
                <a:solidFill>
                  <a:srgbClr val="FF0000"/>
                </a:solidFill>
              </a:rPr>
              <a:t>Int</a:t>
            </a:r>
            <a:r>
              <a:rPr lang="en-US" altLang="zh-TW" dirty="0" smtClean="0">
                <a:solidFill>
                  <a:srgbClr val="FF0000"/>
                </a:solidFill>
              </a:rPr>
              <a:t> *p3 </a:t>
            </a:r>
            <a:r>
              <a:rPr lang="en-US" altLang="zh-TW" dirty="0">
                <a:solidFill>
                  <a:srgbClr val="FF0000"/>
                </a:solidFill>
              </a:rPr>
              <a:t>= &amp;c;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p2 = &amp;b;		</a:t>
            </a:r>
            <a:r>
              <a:rPr lang="en-US" altLang="zh-TW" dirty="0" smtClean="0"/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p2 = p1; 		 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b </a:t>
            </a:r>
            <a:r>
              <a:rPr lang="en-US" altLang="zh-TW" dirty="0"/>
              <a:t>= *p3;		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*p2 = *p3;	 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cout</a:t>
            </a:r>
            <a:r>
              <a:rPr lang="en-US" altLang="zh-TW" dirty="0"/>
              <a:t> &lt;&lt; a &lt;&lt; b &lt;&lt; c; </a:t>
            </a:r>
            <a:r>
              <a:rPr lang="en-US" altLang="zh-TW" b="1" dirty="0" smtClean="0"/>
              <a:t> </a:t>
            </a:r>
            <a:endParaRPr lang="en-US" altLang="zh-TW" sz="20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50706820"/>
              </p:ext>
            </p:extLst>
          </p:nvPr>
        </p:nvGraphicFramePr>
        <p:xfrm>
          <a:off x="4386810" y="3350569"/>
          <a:ext cx="39951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90"/>
                <a:gridCol w="14478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1012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44092" y="368177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p1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265979" y="297180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dirty="0" smtClean="0"/>
              <a:t>000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5981957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p2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605905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2008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6945832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2012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7322144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628681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74696968"/>
              </p:ext>
            </p:extLst>
          </p:nvPr>
        </p:nvGraphicFramePr>
        <p:xfrm>
          <a:off x="4356463" y="1922674"/>
          <a:ext cx="4038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240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53082" y="2298564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030780" y="229291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3036" y="229856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235632" y="1543905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1000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154390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1008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945832" y="153766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1012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729032" y="1828800"/>
            <a:ext cx="2971800" cy="356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a = 100, b = 88, c = 8;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*p1 = &amp;</a:t>
            </a:r>
            <a:r>
              <a:rPr lang="en-US" altLang="zh-TW" dirty="0" smtClean="0"/>
              <a:t>a;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*p2;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*p3 </a:t>
            </a:r>
            <a:r>
              <a:rPr lang="en-US" altLang="zh-TW" dirty="0"/>
              <a:t>= &amp;c;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>
                <a:solidFill>
                  <a:srgbClr val="FF0000"/>
                </a:solidFill>
              </a:rPr>
              <a:t>p2 = &amp;b;	</a:t>
            </a:r>
            <a:r>
              <a:rPr lang="en-US" altLang="zh-TW" dirty="0"/>
              <a:t>	</a:t>
            </a:r>
            <a:r>
              <a:rPr lang="en-US" altLang="zh-TW" dirty="0" smtClean="0"/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p2 = p1; 		 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b </a:t>
            </a:r>
            <a:r>
              <a:rPr lang="en-US" altLang="zh-TW" dirty="0"/>
              <a:t>= *p3;		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*p2 = *p3;	 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cout</a:t>
            </a:r>
            <a:r>
              <a:rPr lang="en-US" altLang="zh-TW" dirty="0"/>
              <a:t> &lt;&lt; a &lt;&lt; b &lt;&lt; c; </a:t>
            </a:r>
            <a:r>
              <a:rPr lang="en-US" altLang="zh-TW" b="1" dirty="0" smtClean="0"/>
              <a:t> </a:t>
            </a:r>
            <a:endParaRPr lang="en-US" altLang="zh-TW" sz="20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83969594"/>
              </p:ext>
            </p:extLst>
          </p:nvPr>
        </p:nvGraphicFramePr>
        <p:xfrm>
          <a:off x="4386810" y="3350569"/>
          <a:ext cx="39951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90"/>
                <a:gridCol w="14478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1008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1012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44092" y="368177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p1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265979" y="297180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dirty="0" smtClean="0"/>
              <a:t>000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5981957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p2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605905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2008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6945832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2012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7322144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985899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74696968"/>
              </p:ext>
            </p:extLst>
          </p:nvPr>
        </p:nvGraphicFramePr>
        <p:xfrm>
          <a:off x="4356463" y="1922674"/>
          <a:ext cx="4038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240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53082" y="2298564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030780" y="229291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3036" y="229856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235632" y="1543905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1000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154390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1008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945832" y="153766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1012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729032" y="1828800"/>
            <a:ext cx="2971800" cy="356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a = 100, b = 88, c = 8;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*p1 = &amp;</a:t>
            </a:r>
            <a:r>
              <a:rPr lang="en-US" altLang="zh-TW" dirty="0" smtClean="0"/>
              <a:t>a;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*p2;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*p3 </a:t>
            </a:r>
            <a:r>
              <a:rPr lang="en-US" altLang="zh-TW" dirty="0"/>
              <a:t>= &amp;c;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p2 = &amp;b;		</a:t>
            </a:r>
            <a:r>
              <a:rPr lang="en-US" altLang="zh-TW" dirty="0" smtClean="0"/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p2 = p1; 	</a:t>
            </a:r>
            <a:r>
              <a:rPr lang="en-US" altLang="zh-TW" dirty="0" smtClean="0"/>
              <a:t>	 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b </a:t>
            </a:r>
            <a:r>
              <a:rPr lang="en-US" altLang="zh-TW" dirty="0"/>
              <a:t>= *p3;		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*p2 = *p3;	 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cout</a:t>
            </a:r>
            <a:r>
              <a:rPr lang="en-US" altLang="zh-TW" dirty="0"/>
              <a:t> &lt;&lt; a &lt;&lt; b &lt;&lt; c; </a:t>
            </a:r>
            <a:r>
              <a:rPr lang="en-US" altLang="zh-TW" b="1" dirty="0" smtClean="0"/>
              <a:t> </a:t>
            </a:r>
            <a:endParaRPr lang="en-US" altLang="zh-TW" sz="20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83063176"/>
              </p:ext>
            </p:extLst>
          </p:nvPr>
        </p:nvGraphicFramePr>
        <p:xfrm>
          <a:off x="4386810" y="3350569"/>
          <a:ext cx="39951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90"/>
                <a:gridCol w="14478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1008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   1000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1012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44092" y="368177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p1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265979" y="297180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dirty="0" smtClean="0"/>
              <a:t>000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5981957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p2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605905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2008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6945832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2012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7322144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p3</a:t>
            </a:r>
            <a:endParaRPr lang="en-US" sz="2000" dirty="0"/>
          </a:p>
        </p:txBody>
      </p:sp>
      <p:cxnSp>
        <p:nvCxnSpPr>
          <p:cNvPr id="3" name="Straight Connector 2"/>
          <p:cNvCxnSpPr>
            <a:stCxn id="16" idx="2"/>
          </p:cNvCxnSpPr>
          <p:nvPr/>
        </p:nvCxnSpPr>
        <p:spPr>
          <a:xfrm flipH="1">
            <a:off x="5791200" y="3389849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569945" y="3320814"/>
            <a:ext cx="591457" cy="4215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01609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7973837"/>
              </p:ext>
            </p:extLst>
          </p:nvPr>
        </p:nvGraphicFramePr>
        <p:xfrm>
          <a:off x="4356463" y="1922674"/>
          <a:ext cx="4038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240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        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53082" y="2298564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030780" y="229291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3036" y="229856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235632" y="1543905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1000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154390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1008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945832" y="153766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1012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729032" y="1828800"/>
            <a:ext cx="2971800" cy="356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a = 100, b = 88, c = 8;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*p1 = &amp;</a:t>
            </a:r>
            <a:r>
              <a:rPr lang="en-US" altLang="zh-TW" dirty="0" smtClean="0"/>
              <a:t>a;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*p2;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*p3 </a:t>
            </a:r>
            <a:r>
              <a:rPr lang="en-US" altLang="zh-TW" dirty="0"/>
              <a:t>= &amp;c;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p2 = &amp;b;		</a:t>
            </a:r>
            <a:r>
              <a:rPr lang="en-US" altLang="zh-TW" dirty="0" smtClean="0"/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p2 = p1; 		 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b </a:t>
            </a:r>
            <a:r>
              <a:rPr lang="en-US" altLang="zh-TW" dirty="0">
                <a:solidFill>
                  <a:srgbClr val="FF0000"/>
                </a:solidFill>
              </a:rPr>
              <a:t>= *p3;	</a:t>
            </a:r>
            <a:r>
              <a:rPr lang="en-US" altLang="zh-TW" dirty="0"/>
              <a:t>	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*p2 = *p3;	 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cout</a:t>
            </a:r>
            <a:r>
              <a:rPr lang="en-US" altLang="zh-TW" dirty="0"/>
              <a:t> &lt;&lt; a &lt;&lt; b &lt;&lt; c; </a:t>
            </a:r>
            <a:r>
              <a:rPr lang="en-US" altLang="zh-TW" b="1" dirty="0" smtClean="0"/>
              <a:t> </a:t>
            </a:r>
            <a:endParaRPr lang="en-US" altLang="zh-TW" sz="20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16660921"/>
              </p:ext>
            </p:extLst>
          </p:nvPr>
        </p:nvGraphicFramePr>
        <p:xfrm>
          <a:off x="4386810" y="3350569"/>
          <a:ext cx="39951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90"/>
                <a:gridCol w="14478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1008   1000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1012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44092" y="368177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p1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265979" y="297180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dirty="0" smtClean="0"/>
              <a:t>000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5981957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p2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605905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2008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6945832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2012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7322144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p3</a:t>
            </a:r>
            <a:endParaRPr lang="en-US" sz="2000" dirty="0"/>
          </a:p>
        </p:txBody>
      </p:sp>
      <p:cxnSp>
        <p:nvCxnSpPr>
          <p:cNvPr id="3" name="Straight Connector 2"/>
          <p:cNvCxnSpPr>
            <a:stCxn id="16" idx="2"/>
          </p:cNvCxnSpPr>
          <p:nvPr/>
        </p:nvCxnSpPr>
        <p:spPr>
          <a:xfrm flipH="1">
            <a:off x="5791200" y="3389849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569945" y="3320814"/>
            <a:ext cx="591457" cy="4215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660578" y="1933422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439323" y="1864387"/>
            <a:ext cx="591457" cy="4215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73001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83597588"/>
              </p:ext>
            </p:extLst>
          </p:nvPr>
        </p:nvGraphicFramePr>
        <p:xfrm>
          <a:off x="4356463" y="1922674"/>
          <a:ext cx="4038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240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   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         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53082" y="2298564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030780" y="229291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3036" y="229856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235632" y="1543905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1000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154390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1008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945832" y="153766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1012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729032" y="1828800"/>
            <a:ext cx="2971800" cy="356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a = 100, b = 88, c = 8;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*p1 = &amp;</a:t>
            </a:r>
            <a:r>
              <a:rPr lang="en-US" altLang="zh-TW" dirty="0" smtClean="0"/>
              <a:t>a;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*p2;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*p3 </a:t>
            </a:r>
            <a:r>
              <a:rPr lang="en-US" altLang="zh-TW" dirty="0"/>
              <a:t>= &amp;c;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p2 = &amp;b;		</a:t>
            </a:r>
            <a:r>
              <a:rPr lang="en-US" altLang="zh-TW" dirty="0" smtClean="0"/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p2 = p1; 		 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b </a:t>
            </a:r>
            <a:r>
              <a:rPr lang="en-US" altLang="zh-TW" dirty="0"/>
              <a:t>= *p3;		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>
                <a:solidFill>
                  <a:srgbClr val="FF0000"/>
                </a:solidFill>
              </a:rPr>
              <a:t>*p2 = *p3;</a:t>
            </a:r>
            <a:r>
              <a:rPr lang="en-US" altLang="zh-TW" dirty="0"/>
              <a:t>	 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cout</a:t>
            </a:r>
            <a:r>
              <a:rPr lang="en-US" altLang="zh-TW" dirty="0"/>
              <a:t> &lt;&lt; a &lt;&lt; b &lt;&lt; c; </a:t>
            </a:r>
            <a:r>
              <a:rPr lang="en-US" altLang="zh-TW" b="1" dirty="0" smtClean="0"/>
              <a:t> </a:t>
            </a:r>
            <a:endParaRPr lang="en-US" altLang="zh-TW" sz="20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16660921"/>
              </p:ext>
            </p:extLst>
          </p:nvPr>
        </p:nvGraphicFramePr>
        <p:xfrm>
          <a:off x="4386810" y="3350569"/>
          <a:ext cx="39951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90"/>
                <a:gridCol w="14478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1008   1000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1012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44092" y="368177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p1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265979" y="297180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dirty="0" smtClean="0"/>
              <a:t>000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5981957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p2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605905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2008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6945832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2012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7322144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p3</a:t>
            </a:r>
            <a:endParaRPr lang="en-US" sz="2000" dirty="0"/>
          </a:p>
        </p:txBody>
      </p:sp>
      <p:cxnSp>
        <p:nvCxnSpPr>
          <p:cNvPr id="3" name="Straight Connector 2"/>
          <p:cNvCxnSpPr>
            <a:stCxn id="16" idx="2"/>
          </p:cNvCxnSpPr>
          <p:nvPr/>
        </p:nvCxnSpPr>
        <p:spPr>
          <a:xfrm flipH="1">
            <a:off x="5791200" y="3389849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569945" y="3320814"/>
            <a:ext cx="591457" cy="4215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660578" y="1933422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439323" y="1864387"/>
            <a:ext cx="591457" cy="4215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4539729" y="1940375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318474" y="1871340"/>
            <a:ext cx="591457" cy="4215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57734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83597588"/>
              </p:ext>
            </p:extLst>
          </p:nvPr>
        </p:nvGraphicFramePr>
        <p:xfrm>
          <a:off x="4356463" y="1922674"/>
          <a:ext cx="4038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240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   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         </a:t>
                      </a: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53082" y="2298564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030780" y="229291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3036" y="229856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c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235632" y="1543905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1000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0" y="1543904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1008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945832" y="1537667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1012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729032" y="1828800"/>
            <a:ext cx="2971800" cy="356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a = 100, b = 88, c = 8;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*p1 = &amp;</a:t>
            </a:r>
            <a:r>
              <a:rPr lang="en-US" altLang="zh-TW" dirty="0" smtClean="0"/>
              <a:t>a;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*p2;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*p3 </a:t>
            </a:r>
            <a:r>
              <a:rPr lang="en-US" altLang="zh-TW" dirty="0"/>
              <a:t>= &amp;c;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p2 = &amp;b;		</a:t>
            </a:r>
            <a:r>
              <a:rPr lang="en-US" altLang="zh-TW" dirty="0" smtClean="0"/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p2 = p1; 		 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smtClean="0"/>
              <a:t>b </a:t>
            </a:r>
            <a:r>
              <a:rPr lang="en-US" altLang="zh-TW" dirty="0"/>
              <a:t>= *p3;		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/>
              <a:t>*p2 = *p3;	   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Monotype Sorts" pitchFamily="2" charset="2"/>
              <a:buNone/>
            </a:pPr>
            <a:r>
              <a:rPr lang="en-US" altLang="zh-TW" dirty="0" err="1">
                <a:solidFill>
                  <a:srgbClr val="FF0000"/>
                </a:solidFill>
              </a:rPr>
              <a:t>cout</a:t>
            </a:r>
            <a:r>
              <a:rPr lang="en-US" altLang="zh-TW" dirty="0">
                <a:solidFill>
                  <a:srgbClr val="FF0000"/>
                </a:solidFill>
              </a:rPr>
              <a:t> &lt;&lt; a &lt;&lt; b &lt;&lt; c; </a:t>
            </a:r>
            <a:r>
              <a:rPr lang="en-US" altLang="zh-TW" b="1" dirty="0" smtClean="0">
                <a:solidFill>
                  <a:srgbClr val="FF0000"/>
                </a:solidFill>
              </a:rPr>
              <a:t> </a:t>
            </a:r>
            <a:endParaRPr lang="en-US" altLang="zh-TW" sz="2000" dirty="0">
              <a:solidFill>
                <a:srgbClr val="FF0000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16660921"/>
              </p:ext>
            </p:extLst>
          </p:nvPr>
        </p:nvGraphicFramePr>
        <p:xfrm>
          <a:off x="4386810" y="3350569"/>
          <a:ext cx="399519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90"/>
                <a:gridCol w="14478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1008   1000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1012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44092" y="3681779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p1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4265979" y="297180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  <a:r>
              <a:rPr lang="en-US" sz="2000" dirty="0" smtClean="0"/>
              <a:t>000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5981957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p2</a:t>
            </a:r>
            <a:endParaRPr lang="en-U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5605905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2008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6945832" y="298973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2012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7322144" y="3667712"/>
            <a:ext cx="449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p3</a:t>
            </a:r>
            <a:endParaRPr lang="en-US" sz="2000" dirty="0"/>
          </a:p>
        </p:txBody>
      </p:sp>
      <p:cxnSp>
        <p:nvCxnSpPr>
          <p:cNvPr id="3" name="Straight Connector 2"/>
          <p:cNvCxnSpPr>
            <a:stCxn id="16" idx="2"/>
          </p:cNvCxnSpPr>
          <p:nvPr/>
        </p:nvCxnSpPr>
        <p:spPr>
          <a:xfrm flipH="1">
            <a:off x="5791200" y="3389849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569945" y="3320814"/>
            <a:ext cx="591457" cy="4215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660578" y="1933422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439323" y="1864387"/>
            <a:ext cx="591457" cy="4215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4539729" y="1940375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318474" y="1871340"/>
            <a:ext cx="591457" cy="4215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73891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What is the output?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a = 100, b = 8, c = 88;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*v1 = &amp;a, *v2, *v3 = &amp;c;</a:t>
            </a:r>
          </a:p>
          <a:p>
            <a:pPr marL="0" indent="0">
              <a:buNone/>
            </a:pPr>
            <a:r>
              <a:rPr lang="en-US" dirty="0"/>
              <a:t>v2 = &amp;b;	 </a:t>
            </a:r>
          </a:p>
          <a:p>
            <a:pPr marL="0" indent="0">
              <a:buNone/>
            </a:pPr>
            <a:r>
              <a:rPr lang="en-US" dirty="0"/>
              <a:t>v2 = v1; 	 </a:t>
            </a:r>
          </a:p>
          <a:p>
            <a:pPr marL="0" indent="0">
              <a:buNone/>
            </a:pPr>
            <a:r>
              <a:rPr lang="en-US" dirty="0"/>
              <a:t>b = *v3;	 </a:t>
            </a:r>
          </a:p>
          <a:p>
            <a:pPr marL="0" indent="0">
              <a:buNone/>
            </a:pPr>
            <a:r>
              <a:rPr lang="en-US" dirty="0"/>
              <a:t>*v2 = *v3;	 </a:t>
            </a:r>
          </a:p>
          <a:p>
            <a:pPr marL="0" indent="0">
              <a:buNone/>
            </a:pPr>
            <a:r>
              <a:rPr lang="en-US" dirty="0" err="1"/>
              <a:t>cout</a:t>
            </a:r>
            <a:r>
              <a:rPr lang="en-US" dirty="0"/>
              <a:t> &lt;&lt; a &lt;&lt; " " &lt;&lt; b &lt;&lt; " " &lt;&lt; c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40858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33400" y="1295400"/>
            <a:ext cx="811016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double x = 3.4, y = 5.6, z = 7.8, </a:t>
            </a:r>
            <a:r>
              <a:rPr lang="fr-FR" sz="2000" dirty="0" err="1"/>
              <a:t>temp</a:t>
            </a:r>
            <a:r>
              <a:rPr lang="fr-FR" sz="2000" dirty="0"/>
              <a:t>; </a:t>
            </a:r>
          </a:p>
          <a:p>
            <a:r>
              <a:rPr lang="fr-FR" sz="2000" dirty="0"/>
              <a:t>double *p, *p1 = &amp;x, *p2 = &amp;y, *p3 = &amp;z; </a:t>
            </a:r>
          </a:p>
          <a:p>
            <a:endParaRPr lang="en-US" sz="2000" dirty="0"/>
          </a:p>
          <a:p>
            <a:r>
              <a:rPr lang="en-US" sz="2000" dirty="0"/>
              <a:t>temp = x; </a:t>
            </a:r>
          </a:p>
          <a:p>
            <a:r>
              <a:rPr lang="en-US" sz="2000" dirty="0"/>
              <a:t>x = y; </a:t>
            </a:r>
          </a:p>
          <a:p>
            <a:r>
              <a:rPr lang="en-US" sz="2000" dirty="0"/>
              <a:t>y = z; </a:t>
            </a:r>
          </a:p>
          <a:p>
            <a:r>
              <a:rPr lang="en-US" sz="2000" dirty="0"/>
              <a:t>z = temp; </a:t>
            </a:r>
          </a:p>
          <a:p>
            <a:r>
              <a:rPr lang="en-US" sz="2000" dirty="0"/>
              <a:t>p = p1; </a:t>
            </a:r>
          </a:p>
          <a:p>
            <a:r>
              <a:rPr lang="en-US" sz="2000" dirty="0"/>
              <a:t>p1 = p2; </a:t>
            </a:r>
          </a:p>
          <a:p>
            <a:r>
              <a:rPr lang="en-US" sz="2000" dirty="0"/>
              <a:t>p2 = p3; </a:t>
            </a:r>
          </a:p>
          <a:p>
            <a:r>
              <a:rPr lang="en-US" sz="2000" dirty="0"/>
              <a:t>p3 = p;</a:t>
            </a:r>
          </a:p>
          <a:p>
            <a:endParaRPr lang="en-US" sz="2000" dirty="0"/>
          </a:p>
          <a:p>
            <a:r>
              <a:rPr lang="en-US" sz="2000" dirty="0" err="1"/>
              <a:t>cout</a:t>
            </a:r>
            <a:r>
              <a:rPr lang="en-US" sz="2000" dirty="0"/>
              <a:t> &lt;&lt; x &lt;&lt; ' ' &lt;&lt; y &lt;&lt; ' ' &lt;&lt; z &lt;&lt; </a:t>
            </a:r>
            <a:r>
              <a:rPr lang="en-US" sz="2000" dirty="0" err="1"/>
              <a:t>endl</a:t>
            </a:r>
            <a:r>
              <a:rPr lang="en-US" sz="2000" dirty="0"/>
              <a:t>; </a:t>
            </a:r>
          </a:p>
          <a:p>
            <a:r>
              <a:rPr lang="fr-FR" sz="2000" dirty="0"/>
              <a:t>cout &lt;&lt; *p1 &lt;&lt; ' ' &lt;&lt; *p2 &lt;&lt; ' ' &lt;&lt; *p3 &lt;&lt; </a:t>
            </a:r>
            <a:r>
              <a:rPr lang="fr-FR" sz="2000" dirty="0" err="1"/>
              <a:t>endl</a:t>
            </a:r>
            <a:r>
              <a:rPr lang="fr-FR" sz="2000" dirty="0"/>
              <a:t>; </a:t>
            </a:r>
            <a:endParaRPr lang="en-US" altLang="zh-TW" sz="2000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3400" y="381000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What is the output?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xmlns="" val="790589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ea typeface="新細明體" pitchFamily="18" charset="-120"/>
              </a:rPr>
              <a:t>Function with Pointer variable passing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305800" cy="4114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void </a:t>
            </a:r>
            <a:r>
              <a:rPr lang="en-US" altLang="zh-TW" sz="2000" dirty="0" err="1">
                <a:ea typeface="新細明體" pitchFamily="18" charset="-120"/>
              </a:rPr>
              <a:t>IndirectSwap</a:t>
            </a:r>
            <a:r>
              <a:rPr lang="en-US" altLang="zh-TW" sz="2000" dirty="0">
                <a:ea typeface="新細明體" pitchFamily="18" charset="-120"/>
              </a:rPr>
              <a:t>(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char *Ptr1</a:t>
            </a:r>
            <a:r>
              <a:rPr lang="en-US" altLang="zh-TW" sz="2000" dirty="0">
                <a:ea typeface="新細明體" pitchFamily="18" charset="-12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char *Ptr2</a:t>
            </a:r>
            <a:r>
              <a:rPr lang="en-US" altLang="zh-TW" sz="2000" dirty="0" smtClean="0">
                <a:ea typeface="新細明體" pitchFamily="18" charset="-120"/>
              </a:rPr>
              <a:t>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{</a:t>
            </a:r>
            <a:endParaRPr lang="en-US" altLang="zh-TW" sz="2000" dirty="0">
              <a:ea typeface="新細明體" pitchFamily="18" charset="-120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char temp = *Ptr1;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*Ptr1 = *Ptr2;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*Ptr2 = temp;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TW" sz="20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int</a:t>
            </a:r>
            <a:r>
              <a:rPr lang="en-US" altLang="zh-TW" sz="2000" dirty="0">
                <a:ea typeface="新細明體" pitchFamily="18" charset="-120"/>
              </a:rPr>
              <a:t> main</a:t>
            </a:r>
            <a:r>
              <a:rPr lang="en-US" altLang="zh-TW" sz="2000" dirty="0" smtClean="0">
                <a:ea typeface="新細明體" pitchFamily="18" charset="-120"/>
              </a:rPr>
              <a:t>()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{</a:t>
            </a:r>
            <a:endParaRPr lang="en-US" altLang="zh-TW" sz="2000" dirty="0">
              <a:ea typeface="新細明體" pitchFamily="18" charset="-120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char a = 'y';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char b = 'n';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IndirectSwap</a:t>
            </a:r>
            <a:r>
              <a:rPr lang="en-US" altLang="zh-TW" sz="2000" dirty="0">
                <a:ea typeface="新細明體" pitchFamily="18" charset="-120"/>
              </a:rPr>
              <a:t>(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&amp;a</a:t>
            </a:r>
            <a:r>
              <a:rPr lang="en-US" altLang="zh-TW" sz="2000" dirty="0">
                <a:ea typeface="新細明體" pitchFamily="18" charset="-12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&amp;b</a:t>
            </a:r>
            <a:r>
              <a:rPr lang="en-US" altLang="zh-TW" sz="2000" dirty="0">
                <a:ea typeface="新細明體" pitchFamily="18" charset="-120"/>
              </a:rPr>
              <a:t>);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cout</a:t>
            </a:r>
            <a:r>
              <a:rPr lang="en-US" altLang="zh-TW" sz="2000" dirty="0">
                <a:ea typeface="新細明體" pitchFamily="18" charset="-120"/>
              </a:rPr>
              <a:t> &lt;&lt; a &lt;&lt; b &lt;&lt; </a:t>
            </a:r>
            <a:r>
              <a:rPr lang="en-US" altLang="zh-TW" sz="2000" dirty="0" err="1">
                <a:ea typeface="新細明體" pitchFamily="18" charset="-120"/>
              </a:rPr>
              <a:t>endl</a:t>
            </a:r>
            <a:r>
              <a:rPr lang="en-US" altLang="zh-TW" sz="2000" dirty="0">
                <a:ea typeface="新細明體" pitchFamily="18" charset="-120"/>
              </a:rPr>
              <a:t>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return 0;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}</a:t>
            </a:r>
          </a:p>
          <a:p>
            <a:pPr>
              <a:lnSpc>
                <a:spcPct val="90000"/>
              </a:lnSpc>
            </a:pPr>
            <a:endParaRPr lang="zh-TW" altLang="en-US" sz="2000" dirty="0">
              <a:ea typeface="新細明體" pitchFamily="18" charset="-12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62164466"/>
              </p:ext>
            </p:extLst>
          </p:nvPr>
        </p:nvGraphicFramePr>
        <p:xfrm>
          <a:off x="4838909" y="4648200"/>
          <a:ext cx="84566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461"/>
                <a:gridCol w="457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38909" y="4898695"/>
            <a:ext cx="282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a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5240279" y="493024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0722" y="4407929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1000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233902" y="4408008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1008</a:t>
            </a:r>
            <a:endParaRPr lang="en-US" sz="1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51985434"/>
              </p:ext>
            </p:extLst>
          </p:nvPr>
        </p:nvGraphicFramePr>
        <p:xfrm>
          <a:off x="6781800" y="2088827"/>
          <a:ext cx="11690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518"/>
                <a:gridCol w="58451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1008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33613" y="2390297"/>
            <a:ext cx="536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ptr1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733613" y="1848556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2000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330957" y="1831238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  <a:r>
              <a:rPr lang="en-US" sz="1200" dirty="0" smtClean="0"/>
              <a:t>008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7312171" y="2404646"/>
            <a:ext cx="536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ptr2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292083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ea typeface="新細明體" pitchFamily="18" charset="-120"/>
              </a:rPr>
              <a:t>Function with Pointer variable passing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305800" cy="4114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void </a:t>
            </a:r>
            <a:r>
              <a:rPr lang="en-US" altLang="zh-TW" sz="2000" dirty="0" err="1">
                <a:ea typeface="新細明體" pitchFamily="18" charset="-120"/>
              </a:rPr>
              <a:t>IndirectSwap</a:t>
            </a:r>
            <a:r>
              <a:rPr lang="en-US" altLang="zh-TW" sz="2000" dirty="0">
                <a:ea typeface="新細明體" pitchFamily="18" charset="-120"/>
              </a:rPr>
              <a:t>(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char *Ptr1</a:t>
            </a:r>
            <a:r>
              <a:rPr lang="en-US" altLang="zh-TW" sz="2000" dirty="0">
                <a:ea typeface="新細明體" pitchFamily="18" charset="-12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char *Ptr2</a:t>
            </a:r>
            <a:r>
              <a:rPr lang="en-US" altLang="zh-TW" sz="2000" dirty="0" smtClean="0">
                <a:ea typeface="新細明體" pitchFamily="18" charset="-120"/>
              </a:rPr>
              <a:t>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{</a:t>
            </a:r>
            <a:endParaRPr lang="en-US" altLang="zh-TW" sz="2000" dirty="0">
              <a:ea typeface="新細明體" pitchFamily="18" charset="-120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char temp = *Ptr1;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*Ptr1 = *Ptr2;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*Ptr2 = temp;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TW" sz="20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int</a:t>
            </a:r>
            <a:r>
              <a:rPr lang="en-US" altLang="zh-TW" sz="2000" dirty="0">
                <a:ea typeface="新細明體" pitchFamily="18" charset="-120"/>
              </a:rPr>
              <a:t> main</a:t>
            </a:r>
            <a:r>
              <a:rPr lang="en-US" altLang="zh-TW" sz="2000" dirty="0" smtClean="0">
                <a:ea typeface="新細明體" pitchFamily="18" charset="-120"/>
              </a:rPr>
              <a:t>()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{</a:t>
            </a:r>
            <a:endParaRPr lang="en-US" altLang="zh-TW" sz="2000" dirty="0">
              <a:ea typeface="新細明體" pitchFamily="18" charset="-120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char a = 'y';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char b = 'n';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IndirectSwap</a:t>
            </a:r>
            <a:r>
              <a:rPr lang="en-US" altLang="zh-TW" sz="2000" dirty="0">
                <a:ea typeface="新細明體" pitchFamily="18" charset="-120"/>
              </a:rPr>
              <a:t>(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&amp;a</a:t>
            </a:r>
            <a:r>
              <a:rPr lang="en-US" altLang="zh-TW" sz="2000" dirty="0">
                <a:ea typeface="新細明體" pitchFamily="18" charset="-12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&amp;b</a:t>
            </a:r>
            <a:r>
              <a:rPr lang="en-US" altLang="zh-TW" sz="2000" dirty="0">
                <a:ea typeface="新細明體" pitchFamily="18" charset="-120"/>
              </a:rPr>
              <a:t>);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cout</a:t>
            </a:r>
            <a:r>
              <a:rPr lang="en-US" altLang="zh-TW" sz="2000" dirty="0">
                <a:ea typeface="新細明體" pitchFamily="18" charset="-120"/>
              </a:rPr>
              <a:t> &lt;&lt; a &lt;&lt; b &lt;&lt; </a:t>
            </a:r>
            <a:r>
              <a:rPr lang="en-US" altLang="zh-TW" sz="2000" dirty="0" err="1">
                <a:ea typeface="新細明體" pitchFamily="18" charset="-120"/>
              </a:rPr>
              <a:t>endl</a:t>
            </a:r>
            <a:r>
              <a:rPr lang="en-US" altLang="zh-TW" sz="2000" dirty="0">
                <a:ea typeface="新細明體" pitchFamily="18" charset="-120"/>
              </a:rPr>
              <a:t>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return 0;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}</a:t>
            </a:r>
          </a:p>
          <a:p>
            <a:pPr>
              <a:lnSpc>
                <a:spcPct val="90000"/>
              </a:lnSpc>
            </a:pPr>
            <a:endParaRPr lang="zh-TW" altLang="en-US" sz="2000" dirty="0">
              <a:ea typeface="新細明體" pitchFamily="18" charset="-12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62164466"/>
              </p:ext>
            </p:extLst>
          </p:nvPr>
        </p:nvGraphicFramePr>
        <p:xfrm>
          <a:off x="4838909" y="4648200"/>
          <a:ext cx="84566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461"/>
                <a:gridCol w="457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38909" y="4898695"/>
            <a:ext cx="282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a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5240279" y="4930249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0722" y="4407929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1000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233902" y="4408008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1008</a:t>
            </a:r>
            <a:endParaRPr lang="en-US" sz="1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26514278"/>
              </p:ext>
            </p:extLst>
          </p:nvPr>
        </p:nvGraphicFramePr>
        <p:xfrm>
          <a:off x="6781800" y="2088827"/>
          <a:ext cx="15587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518"/>
                <a:gridCol w="584518"/>
                <a:gridCol w="38967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33613" y="2390297"/>
            <a:ext cx="536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ptr1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733613" y="1848556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2000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330957" y="1831238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  <a:r>
              <a:rPr lang="en-US" sz="1200" dirty="0" smtClean="0"/>
              <a:t>008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7312171" y="2404646"/>
            <a:ext cx="536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ptr2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7872029" y="2410633"/>
            <a:ext cx="624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temp</a:t>
            </a:r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7895062" y="1811828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2012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218116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ea typeface="新細明體" pitchFamily="18" charset="-120"/>
              </a:rPr>
              <a:t>Function with Pointer variable passing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305800" cy="4114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void </a:t>
            </a:r>
            <a:r>
              <a:rPr lang="en-US" altLang="zh-TW" sz="2000" dirty="0" err="1">
                <a:ea typeface="新細明體" pitchFamily="18" charset="-120"/>
              </a:rPr>
              <a:t>IndirectSwap</a:t>
            </a:r>
            <a:r>
              <a:rPr lang="en-US" altLang="zh-TW" sz="2000" dirty="0">
                <a:ea typeface="新細明體" pitchFamily="18" charset="-120"/>
              </a:rPr>
              <a:t>(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char *Ptr1</a:t>
            </a:r>
            <a:r>
              <a:rPr lang="en-US" altLang="zh-TW" sz="2000" dirty="0">
                <a:ea typeface="新細明體" pitchFamily="18" charset="-12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char *Ptr2</a:t>
            </a:r>
            <a:r>
              <a:rPr lang="en-US" altLang="zh-TW" sz="2000" dirty="0" smtClean="0">
                <a:ea typeface="新細明體" pitchFamily="18" charset="-120"/>
              </a:rPr>
              <a:t>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{</a:t>
            </a:r>
            <a:endParaRPr lang="en-US" altLang="zh-TW" sz="2000" dirty="0">
              <a:ea typeface="新細明體" pitchFamily="18" charset="-120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char temp = *Ptr1;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*Ptr1 = *Ptr2;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*Ptr2 = temp;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TW" sz="20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int</a:t>
            </a:r>
            <a:r>
              <a:rPr lang="en-US" altLang="zh-TW" sz="2000" dirty="0">
                <a:ea typeface="新細明體" pitchFamily="18" charset="-120"/>
              </a:rPr>
              <a:t> main</a:t>
            </a:r>
            <a:r>
              <a:rPr lang="en-US" altLang="zh-TW" sz="2000" dirty="0" smtClean="0">
                <a:ea typeface="新細明體" pitchFamily="18" charset="-120"/>
              </a:rPr>
              <a:t>()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{</a:t>
            </a:r>
            <a:endParaRPr lang="en-US" altLang="zh-TW" sz="2000" dirty="0">
              <a:ea typeface="新細明體" pitchFamily="18" charset="-120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char a = 'y';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char b = 'n';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IndirectSwap</a:t>
            </a:r>
            <a:r>
              <a:rPr lang="en-US" altLang="zh-TW" sz="2000" dirty="0">
                <a:ea typeface="新細明體" pitchFamily="18" charset="-120"/>
              </a:rPr>
              <a:t>(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&amp;a</a:t>
            </a:r>
            <a:r>
              <a:rPr lang="en-US" altLang="zh-TW" sz="2000" dirty="0">
                <a:ea typeface="新細明體" pitchFamily="18" charset="-12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&amp;b</a:t>
            </a:r>
            <a:r>
              <a:rPr lang="en-US" altLang="zh-TW" sz="2000" dirty="0">
                <a:ea typeface="新細明體" pitchFamily="18" charset="-120"/>
              </a:rPr>
              <a:t>);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cout</a:t>
            </a:r>
            <a:r>
              <a:rPr lang="en-US" altLang="zh-TW" sz="2000" dirty="0">
                <a:ea typeface="新細明體" pitchFamily="18" charset="-120"/>
              </a:rPr>
              <a:t> &lt;&lt; a &lt;&lt; b &lt;&lt; </a:t>
            </a:r>
            <a:r>
              <a:rPr lang="en-US" altLang="zh-TW" sz="2000" dirty="0" err="1">
                <a:ea typeface="新細明體" pitchFamily="18" charset="-120"/>
              </a:rPr>
              <a:t>endl</a:t>
            </a:r>
            <a:r>
              <a:rPr lang="en-US" altLang="zh-TW" sz="2000" dirty="0">
                <a:ea typeface="新細明體" pitchFamily="18" charset="-120"/>
              </a:rPr>
              <a:t>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return 0;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}</a:t>
            </a:r>
          </a:p>
          <a:p>
            <a:pPr>
              <a:lnSpc>
                <a:spcPct val="90000"/>
              </a:lnSpc>
            </a:pPr>
            <a:endParaRPr lang="zh-TW" altLang="en-US" sz="2000" dirty="0">
              <a:ea typeface="新細明體" pitchFamily="18" charset="-12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71488974"/>
              </p:ext>
            </p:extLst>
          </p:nvPr>
        </p:nvGraphicFramePr>
        <p:xfrm>
          <a:off x="4838909" y="4648200"/>
          <a:ext cx="102849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291"/>
                <a:gridCol w="457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38909" y="4898695"/>
            <a:ext cx="282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a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5449387" y="492681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0722" y="4407929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1000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345994" y="4407929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1008</a:t>
            </a:r>
            <a:endParaRPr lang="en-US" sz="1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26514278"/>
              </p:ext>
            </p:extLst>
          </p:nvPr>
        </p:nvGraphicFramePr>
        <p:xfrm>
          <a:off x="6781800" y="2088827"/>
          <a:ext cx="15587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518"/>
                <a:gridCol w="584518"/>
                <a:gridCol w="38967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33613" y="2390297"/>
            <a:ext cx="536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ptr1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733613" y="1848556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2000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330957" y="1831238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  <a:r>
              <a:rPr lang="en-US" sz="1200" dirty="0" smtClean="0"/>
              <a:t>008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7312171" y="2404646"/>
            <a:ext cx="536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ptr2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7872029" y="2410633"/>
            <a:ext cx="624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temp</a:t>
            </a:r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7895062" y="1811828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2012</a:t>
            </a:r>
            <a:endParaRPr lang="en-US" sz="1200" dirty="0"/>
          </a:p>
        </p:txBody>
      </p:sp>
      <p:cxnSp>
        <p:nvCxnSpPr>
          <p:cNvPr id="19" name="Straight Connector 18"/>
          <p:cNvCxnSpPr/>
          <p:nvPr/>
        </p:nvCxnSpPr>
        <p:spPr>
          <a:xfrm flipH="1">
            <a:off x="4915171" y="4768150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693916" y="4699115"/>
            <a:ext cx="591457" cy="4215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117394" y="4566777"/>
            <a:ext cx="40901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8087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ea typeface="新細明體" pitchFamily="18" charset="-120"/>
              </a:rPr>
              <a:t>Function with Pointer variable passing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8305800" cy="4114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void </a:t>
            </a:r>
            <a:r>
              <a:rPr lang="en-US" altLang="zh-TW" sz="2000" dirty="0" err="1">
                <a:ea typeface="新細明體" pitchFamily="18" charset="-120"/>
              </a:rPr>
              <a:t>IndirectSwap</a:t>
            </a:r>
            <a:r>
              <a:rPr lang="en-US" altLang="zh-TW" sz="2000" dirty="0">
                <a:ea typeface="新細明體" pitchFamily="18" charset="-120"/>
              </a:rPr>
              <a:t>(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char *Ptr1</a:t>
            </a:r>
            <a:r>
              <a:rPr lang="en-US" altLang="zh-TW" sz="2000" dirty="0">
                <a:ea typeface="新細明體" pitchFamily="18" charset="-12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char *Ptr2</a:t>
            </a:r>
            <a:r>
              <a:rPr lang="en-US" altLang="zh-TW" sz="2000" dirty="0" smtClean="0">
                <a:ea typeface="新細明體" pitchFamily="18" charset="-120"/>
              </a:rPr>
              <a:t>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{</a:t>
            </a:r>
            <a:endParaRPr lang="en-US" altLang="zh-TW" sz="2000" dirty="0">
              <a:ea typeface="新細明體" pitchFamily="18" charset="-120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char temp = *Ptr1;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*Ptr1 = *Ptr2;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*Ptr2 = temp;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zh-TW" sz="20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int</a:t>
            </a:r>
            <a:r>
              <a:rPr lang="en-US" altLang="zh-TW" sz="2000" dirty="0">
                <a:ea typeface="新細明體" pitchFamily="18" charset="-120"/>
              </a:rPr>
              <a:t> main</a:t>
            </a:r>
            <a:r>
              <a:rPr lang="en-US" altLang="zh-TW" sz="2000" dirty="0" smtClean="0">
                <a:ea typeface="新細明體" pitchFamily="18" charset="-120"/>
              </a:rPr>
              <a:t>()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smtClean="0">
                <a:ea typeface="新細明體" pitchFamily="18" charset="-120"/>
              </a:rPr>
              <a:t>{</a:t>
            </a:r>
            <a:endParaRPr lang="en-US" altLang="zh-TW" sz="2000" dirty="0">
              <a:ea typeface="新細明體" pitchFamily="18" charset="-120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char a = 'y';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char b = 'n';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IndirectSwap</a:t>
            </a:r>
            <a:r>
              <a:rPr lang="en-US" altLang="zh-TW" sz="2000" dirty="0">
                <a:ea typeface="新細明體" pitchFamily="18" charset="-120"/>
              </a:rPr>
              <a:t>(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&amp;a</a:t>
            </a:r>
            <a:r>
              <a:rPr lang="en-US" altLang="zh-TW" sz="2000" dirty="0">
                <a:ea typeface="新細明體" pitchFamily="18" charset="-120"/>
              </a:rPr>
              <a:t>, </a:t>
            </a:r>
            <a:r>
              <a:rPr lang="en-US" altLang="zh-TW" sz="2000" dirty="0">
                <a:solidFill>
                  <a:srgbClr val="FF0000"/>
                </a:solidFill>
                <a:ea typeface="新細明體" pitchFamily="18" charset="-120"/>
              </a:rPr>
              <a:t>&amp;b</a:t>
            </a:r>
            <a:r>
              <a:rPr lang="en-US" altLang="zh-TW" sz="2000" dirty="0">
                <a:ea typeface="新細明體" pitchFamily="18" charset="-120"/>
              </a:rPr>
              <a:t>);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 err="1">
                <a:ea typeface="新細明體" pitchFamily="18" charset="-120"/>
              </a:rPr>
              <a:t>cout</a:t>
            </a:r>
            <a:r>
              <a:rPr lang="en-US" altLang="zh-TW" sz="2000" dirty="0">
                <a:ea typeface="新細明體" pitchFamily="18" charset="-120"/>
              </a:rPr>
              <a:t> &lt;&lt; a &lt;&lt; b &lt;&lt; </a:t>
            </a:r>
            <a:r>
              <a:rPr lang="en-US" altLang="zh-TW" sz="2000" dirty="0" err="1">
                <a:ea typeface="新細明體" pitchFamily="18" charset="-120"/>
              </a:rPr>
              <a:t>endl</a:t>
            </a:r>
            <a:r>
              <a:rPr lang="en-US" altLang="zh-TW" sz="2000" dirty="0">
                <a:ea typeface="新細明體" pitchFamily="18" charset="-120"/>
              </a:rPr>
              <a:t>;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return 0;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}</a:t>
            </a:r>
          </a:p>
          <a:p>
            <a:pPr>
              <a:lnSpc>
                <a:spcPct val="90000"/>
              </a:lnSpc>
            </a:pPr>
            <a:endParaRPr lang="zh-TW" altLang="en-US" sz="2000" dirty="0">
              <a:ea typeface="新細明體" pitchFamily="18" charset="-12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71488974"/>
              </p:ext>
            </p:extLst>
          </p:nvPr>
        </p:nvGraphicFramePr>
        <p:xfrm>
          <a:off x="4838909" y="4648200"/>
          <a:ext cx="102849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291"/>
                <a:gridCol w="457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38909" y="4898695"/>
            <a:ext cx="2824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a</a:t>
            </a:r>
            <a:endParaRPr 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5449387" y="4926813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0722" y="4407929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1000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345994" y="4407929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1008</a:t>
            </a:r>
            <a:endParaRPr lang="en-US" sz="1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26514278"/>
              </p:ext>
            </p:extLst>
          </p:nvPr>
        </p:nvGraphicFramePr>
        <p:xfrm>
          <a:off x="6781800" y="2088827"/>
          <a:ext cx="15587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518"/>
                <a:gridCol w="584518"/>
                <a:gridCol w="38967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1008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y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33613" y="2390297"/>
            <a:ext cx="536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ptr1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733613" y="1848556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2000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330957" y="1831238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  <a:r>
              <a:rPr lang="en-US" sz="1200" dirty="0" smtClean="0"/>
              <a:t>008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7312171" y="2404646"/>
            <a:ext cx="536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ptr2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7872029" y="2410633"/>
            <a:ext cx="624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temp</a:t>
            </a:r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7895062" y="1811828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2012</a:t>
            </a:r>
            <a:endParaRPr lang="en-US" sz="1200" dirty="0"/>
          </a:p>
        </p:txBody>
      </p:sp>
      <p:cxnSp>
        <p:nvCxnSpPr>
          <p:cNvPr id="19" name="Straight Connector 18"/>
          <p:cNvCxnSpPr/>
          <p:nvPr/>
        </p:nvCxnSpPr>
        <p:spPr>
          <a:xfrm flipH="1">
            <a:off x="4915171" y="4768150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4" idx="1"/>
          </p:cNvCxnSpPr>
          <p:nvPr/>
        </p:nvCxnSpPr>
        <p:spPr>
          <a:xfrm>
            <a:off x="4838909" y="4833620"/>
            <a:ext cx="297001" cy="23211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117394" y="4566777"/>
            <a:ext cx="40901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613401" y="4578066"/>
            <a:ext cx="40901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5451933" y="4787868"/>
            <a:ext cx="166725" cy="2778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399844" y="4855065"/>
            <a:ext cx="336031" cy="1518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963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Dynamic Memory Allocation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Can allocate storage for a variable while program is running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Computer returns address of newly allocated variable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Uses </a:t>
            </a:r>
            <a:r>
              <a:rPr lang="en-US" altLang="en-US" dirty="0" smtClean="0">
                <a:latin typeface="Courier New" panose="02070309020205020404" pitchFamily="49" charset="0"/>
              </a:rPr>
              <a:t>new</a:t>
            </a:r>
            <a:r>
              <a:rPr lang="en-US" altLang="en-US" dirty="0" smtClean="0"/>
              <a:t> operator to allocate memory: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 smtClean="0"/>
              <a:t>	</a:t>
            </a:r>
            <a:r>
              <a:rPr lang="en-US" altLang="en-US" sz="2000" dirty="0" smtClean="0">
                <a:latin typeface="Courier New" panose="02070309020205020404" pitchFamily="49" charset="0"/>
              </a:rPr>
              <a:t>double *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dptr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=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nullptr</a:t>
            </a:r>
            <a:r>
              <a:rPr lang="en-US" altLang="en-US" sz="2000" dirty="0" smtClean="0">
                <a:latin typeface="Courier New" panose="02070309020205020404" pitchFamily="49" charset="0"/>
              </a:rPr>
              <a:t>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dptr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= new double;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 smtClean="0">
                <a:latin typeface="Courier New" panose="02070309020205020404" pitchFamily="49" charset="0"/>
              </a:rPr>
              <a:t>*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dptr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= 10.0;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 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cout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&lt;&lt;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dptr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&lt;&lt; “ “ &lt;&lt; *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dptr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&lt;&lt;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endl</a:t>
            </a:r>
            <a:r>
              <a:rPr lang="en-US" altLang="en-US" sz="2000" dirty="0" smtClean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en-US" dirty="0" smtClean="0">
                <a:latin typeface="Courier New" panose="02070309020205020404" pitchFamily="49" charset="0"/>
              </a:rPr>
              <a:t>new</a:t>
            </a:r>
            <a:r>
              <a:rPr lang="en-US" altLang="en-US" dirty="0" smtClean="0"/>
              <a:t> returns address of memory location</a:t>
            </a:r>
            <a:endParaRPr lang="en-US" altLang="en-US" dirty="0" smtClean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92595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772400" cy="1143000"/>
          </a:xfrm>
        </p:spPr>
        <p:txBody>
          <a:bodyPr/>
          <a:lstStyle/>
          <a:p>
            <a:r>
              <a:rPr lang="en-US" altLang="en-US" smtClean="0"/>
              <a:t>Dynamic Memory Allocation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36725"/>
            <a:ext cx="8240713" cy="48164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5000"/>
              </a:lnSpc>
            </a:pPr>
            <a:r>
              <a:rPr lang="en-US" altLang="en-US" sz="2400" dirty="0" smtClean="0"/>
              <a:t>Can also use </a:t>
            </a:r>
            <a:r>
              <a:rPr lang="en-US" altLang="en-US" sz="2400" dirty="0" smtClean="0">
                <a:latin typeface="Courier New" panose="02070309020205020404" pitchFamily="49" charset="0"/>
              </a:rPr>
              <a:t>new</a:t>
            </a:r>
            <a:r>
              <a:rPr lang="en-US" altLang="en-US" sz="2400" dirty="0" smtClean="0"/>
              <a:t> to allocate array:</a:t>
            </a:r>
            <a:br>
              <a:rPr lang="en-US" altLang="en-US" sz="2400" dirty="0" smtClean="0"/>
            </a:br>
            <a:r>
              <a:rPr lang="en-US" altLang="en-US" sz="1900" dirty="0" smtClean="0">
                <a:latin typeface="Courier New" panose="02070309020205020404" pitchFamily="49" charset="0"/>
              </a:rPr>
              <a:t>const </a:t>
            </a:r>
            <a:r>
              <a:rPr lang="en-US" altLang="en-US" sz="1900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1900" dirty="0" smtClean="0">
                <a:latin typeface="Courier New" panose="02070309020205020404" pitchFamily="49" charset="0"/>
              </a:rPr>
              <a:t> SIZE = 25;</a:t>
            </a:r>
            <a:endParaRPr lang="en-US" altLang="en-US" sz="1900" dirty="0" smtClean="0"/>
          </a:p>
          <a:p>
            <a:pPr>
              <a:lnSpc>
                <a:spcPct val="85000"/>
              </a:lnSpc>
            </a:pPr>
            <a:r>
              <a:rPr lang="en-US" altLang="en-US" sz="2400" dirty="0" smtClean="0"/>
              <a:t>Can then use </a:t>
            </a:r>
            <a:r>
              <a:rPr lang="en-US" altLang="en-US" sz="2400" dirty="0" smtClean="0">
                <a:latin typeface="Courier New" panose="02070309020205020404" pitchFamily="49" charset="0"/>
              </a:rPr>
              <a:t>[]</a:t>
            </a:r>
            <a:r>
              <a:rPr lang="en-US" altLang="en-US" sz="2400" dirty="0" smtClean="0"/>
              <a:t> or pointer arithmetic to access array:</a:t>
            </a:r>
          </a:p>
          <a:p>
            <a:pPr marL="0" lvl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     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</a:rPr>
              <a:t>*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arrayPtr</a:t>
            </a:r>
            <a:r>
              <a:rPr lang="en-US" altLang="en-US" sz="2000" smtClean="0">
                <a:latin typeface="Courier New" panose="02070309020205020404" pitchFamily="49" charset="0"/>
              </a:rPr>
              <a:t>[SIZE];</a:t>
            </a:r>
            <a:endParaRPr lang="en-US" altLang="en-US" sz="2000" dirty="0" smtClean="0"/>
          </a:p>
          <a:p>
            <a:pPr marL="0" lvl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2000" dirty="0" smtClean="0"/>
              <a:t>	</a:t>
            </a:r>
            <a:r>
              <a:rPr lang="en-US" altLang="en-US" sz="1900" dirty="0" smtClean="0">
                <a:latin typeface="Courier New" panose="02070309020205020404" pitchFamily="49" charset="0"/>
              </a:rPr>
              <a:t>for(</a:t>
            </a:r>
            <a:r>
              <a:rPr lang="en-US" altLang="en-US" sz="19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1900" dirty="0" smtClean="0">
                <a:latin typeface="Courier New" panose="02070309020205020404" pitchFamily="49" charset="0"/>
              </a:rPr>
              <a:t> = 0; </a:t>
            </a:r>
            <a:r>
              <a:rPr lang="en-US" altLang="en-US" sz="19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1900" dirty="0" smtClean="0">
                <a:latin typeface="Courier New" panose="02070309020205020404" pitchFamily="49" charset="0"/>
              </a:rPr>
              <a:t> &lt; SIZE; </a:t>
            </a:r>
            <a:r>
              <a:rPr lang="en-US" altLang="en-US" sz="19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1900" dirty="0" smtClean="0">
                <a:latin typeface="Courier New" panose="02070309020205020404" pitchFamily="49" charset="0"/>
              </a:rPr>
              <a:t>++)</a:t>
            </a:r>
          </a:p>
          <a:p>
            <a:pPr marL="0" lvl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900" dirty="0" smtClean="0">
                <a:latin typeface="Courier New" panose="02070309020205020404" pitchFamily="49" charset="0"/>
              </a:rPr>
              <a:t>       { </a:t>
            </a:r>
          </a:p>
          <a:p>
            <a:pPr marL="0" lvl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</a:rPr>
              <a:t> </a:t>
            </a:r>
            <a:r>
              <a:rPr lang="en-US" altLang="en-US" sz="1900" dirty="0" smtClean="0">
                <a:latin typeface="Courier New" panose="02070309020205020404" pitchFamily="49" charset="0"/>
              </a:rPr>
              <a:t>        </a:t>
            </a:r>
            <a:r>
              <a:rPr lang="en-US" altLang="en-US" sz="1900" dirty="0" err="1" smtClean="0">
                <a:latin typeface="Courier New" panose="02070309020205020404" pitchFamily="49" charset="0"/>
              </a:rPr>
              <a:t>arrayPtr</a:t>
            </a:r>
            <a:r>
              <a:rPr lang="en-US" altLang="en-US" sz="1900" dirty="0" smtClean="0">
                <a:latin typeface="Courier New" panose="02070309020205020404" pitchFamily="49" charset="0"/>
              </a:rPr>
              <a:t>[</a:t>
            </a:r>
            <a:r>
              <a:rPr lang="en-US" altLang="en-US" sz="19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1900" dirty="0" smtClean="0">
                <a:latin typeface="Courier New" panose="02070309020205020404" pitchFamily="49" charset="0"/>
              </a:rPr>
              <a:t>] = new </a:t>
            </a:r>
            <a:r>
              <a:rPr lang="en-US" altLang="en-US" sz="1900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1900" dirty="0" smtClean="0">
                <a:latin typeface="Courier New" panose="02070309020205020404" pitchFamily="49" charset="0"/>
              </a:rPr>
              <a:t>; </a:t>
            </a:r>
          </a:p>
          <a:p>
            <a:pPr marL="0" lvl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900" dirty="0" smtClean="0">
                <a:latin typeface="Courier New" panose="02070309020205020404" pitchFamily="49" charset="0"/>
              </a:rPr>
              <a:t>	  *</a:t>
            </a:r>
            <a:r>
              <a:rPr lang="en-US" altLang="en-US" sz="1900" dirty="0" err="1" smtClean="0">
                <a:latin typeface="Courier New" panose="02070309020205020404" pitchFamily="49" charset="0"/>
              </a:rPr>
              <a:t>arrayptr</a:t>
            </a:r>
            <a:r>
              <a:rPr lang="en-US" altLang="en-US" sz="1900" dirty="0" smtClean="0">
                <a:latin typeface="Courier New" panose="02070309020205020404" pitchFamily="49" charset="0"/>
              </a:rPr>
              <a:t>[</a:t>
            </a:r>
            <a:r>
              <a:rPr lang="en-US" altLang="en-US" sz="19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1900" dirty="0" smtClean="0">
                <a:latin typeface="Courier New" panose="02070309020205020404" pitchFamily="49" charset="0"/>
              </a:rPr>
              <a:t>] = </a:t>
            </a:r>
            <a:r>
              <a:rPr lang="en-US" altLang="en-US" sz="19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1900" dirty="0" smtClean="0">
                <a:latin typeface="Courier New" panose="02070309020205020404" pitchFamily="49" charset="0"/>
              </a:rPr>
              <a:t> * </a:t>
            </a:r>
            <a:r>
              <a:rPr lang="en-US" altLang="en-US" sz="19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1900" dirty="0" smtClean="0">
                <a:latin typeface="Courier New" panose="02070309020205020404" pitchFamily="49" charset="0"/>
              </a:rPr>
              <a:t>;  </a:t>
            </a:r>
          </a:p>
          <a:p>
            <a:pPr marL="0" lvl="1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lang="en-US" altLang="en-US" sz="1900" dirty="0" smtClean="0">
                <a:latin typeface="Courier New" panose="02070309020205020404" pitchFamily="49" charset="0"/>
              </a:rPr>
              <a:t>       }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US" sz="2000" dirty="0" smtClean="0"/>
              <a:t>Or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 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*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arrayPtr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= </a:t>
            </a:r>
            <a:r>
              <a:rPr lang="en-US" altLang="en-US" sz="2000" dirty="0">
                <a:latin typeface="Courier New" panose="02070309020205020404" pitchFamily="49" charset="0"/>
              </a:rPr>
              <a:t>new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int</a:t>
            </a:r>
            <a:r>
              <a:rPr lang="en-US" altLang="en-US" sz="2000" dirty="0" smtClean="0">
                <a:latin typeface="Courier New" panose="02070309020205020404" pitchFamily="49" charset="0"/>
              </a:rPr>
              <a:t>[SIZE]; </a:t>
            </a:r>
            <a:endParaRPr lang="en-US" altLang="en-US" sz="2000" dirty="0" smtClean="0"/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for(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= 0;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&lt; SIZE;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2000" dirty="0" smtClean="0">
                <a:latin typeface="Courier New" panose="02070309020205020404" pitchFamily="49" charset="0"/>
              </a:rPr>
              <a:t>++)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   {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		  *(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arrayptr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+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2000" dirty="0" smtClean="0">
                <a:latin typeface="Courier New" panose="02070309020205020404" pitchFamily="49" charset="0"/>
              </a:rPr>
              <a:t>) =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2000" dirty="0" smtClean="0">
                <a:latin typeface="Courier New" panose="02070309020205020404" pitchFamily="49" charset="0"/>
              </a:rPr>
              <a:t> * </a:t>
            </a:r>
            <a:r>
              <a:rPr lang="en-US" altLang="en-US" sz="2000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2000" dirty="0" smtClean="0">
                <a:latin typeface="Courier New" panose="02070309020205020404" pitchFamily="49" charset="0"/>
              </a:rPr>
              <a:t>;</a:t>
            </a:r>
          </a:p>
          <a:p>
            <a:pPr lvl="1">
              <a:lnSpc>
                <a:spcPct val="85000"/>
              </a:lnSpc>
              <a:buFontTx/>
              <a:buNone/>
            </a:pPr>
            <a:r>
              <a:rPr lang="en-US" altLang="en-US" sz="2000" dirty="0" smtClean="0">
                <a:latin typeface="Courier New" panose="02070309020205020404" pitchFamily="49" charset="0"/>
              </a:rPr>
              <a:t>   }</a:t>
            </a:r>
          </a:p>
          <a:p>
            <a:pPr lvl="1">
              <a:lnSpc>
                <a:spcPct val="85000"/>
              </a:lnSpc>
              <a:buFontTx/>
              <a:buNone/>
            </a:pPr>
            <a:endParaRPr lang="en-US" altLang="en-US" sz="2000" dirty="0" smtClean="0"/>
          </a:p>
          <a:p>
            <a:pPr>
              <a:lnSpc>
                <a:spcPct val="85000"/>
              </a:lnSpc>
            </a:pPr>
            <a:r>
              <a:rPr lang="en-US" altLang="en-US" sz="2400" dirty="0" smtClean="0"/>
              <a:t>Program will terminate if not enough memory available to allocate</a:t>
            </a:r>
          </a:p>
        </p:txBody>
      </p:sp>
    </p:spTree>
    <p:extLst>
      <p:ext uri="{BB962C8B-B14F-4D97-AF65-F5344CB8AC3E}">
        <p14:creationId xmlns:p14="http://schemas.microsoft.com/office/powerpoint/2010/main" xmlns="" val="16469454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Releasing Dynamic Memory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8294688" cy="4572000"/>
          </a:xfrm>
        </p:spPr>
        <p:txBody>
          <a:bodyPr/>
          <a:lstStyle/>
          <a:p>
            <a:r>
              <a:rPr lang="en-US" altLang="en-US" smtClean="0"/>
              <a:t>Use </a:t>
            </a:r>
            <a:r>
              <a:rPr lang="en-US" altLang="en-US" smtClean="0">
                <a:latin typeface="Courier New" panose="02070309020205020404" pitchFamily="49" charset="0"/>
              </a:rPr>
              <a:t>delete</a:t>
            </a:r>
            <a:r>
              <a:rPr lang="en-US" altLang="en-US" smtClean="0"/>
              <a:t> to free dynamic memory:</a:t>
            </a:r>
          </a:p>
          <a:p>
            <a:pPr lvl="1">
              <a:buFontTx/>
              <a:buNone/>
            </a:pPr>
            <a:r>
              <a:rPr lang="en-US" altLang="en-US" smtClean="0">
                <a:latin typeface="Courier New" panose="02070309020205020404" pitchFamily="49" charset="0"/>
              </a:rPr>
              <a:t>	delete fptr;</a:t>
            </a:r>
            <a:endParaRPr lang="en-US" altLang="en-US" smtClean="0"/>
          </a:p>
          <a:p>
            <a:r>
              <a:rPr lang="en-US" altLang="en-US" smtClean="0"/>
              <a:t>Use </a:t>
            </a:r>
            <a:r>
              <a:rPr lang="en-US" altLang="en-US" smtClean="0">
                <a:latin typeface="Courier New" panose="02070309020205020404" pitchFamily="49" charset="0"/>
              </a:rPr>
              <a:t>[]</a:t>
            </a:r>
            <a:r>
              <a:rPr lang="en-US" altLang="en-US" smtClean="0"/>
              <a:t> to free dynamic array:</a:t>
            </a:r>
          </a:p>
          <a:p>
            <a:pPr lvl="1">
              <a:buFontTx/>
              <a:buNone/>
            </a:pPr>
            <a:r>
              <a:rPr lang="en-US" altLang="en-US" smtClean="0"/>
              <a:t>	</a:t>
            </a:r>
            <a:r>
              <a:rPr lang="en-US" altLang="en-US" smtClean="0">
                <a:latin typeface="Courier New" panose="02070309020205020404" pitchFamily="49" charset="0"/>
              </a:rPr>
              <a:t>delete [] arrayptr;</a:t>
            </a:r>
            <a:endParaRPr lang="en-US" altLang="en-US" smtClean="0"/>
          </a:p>
          <a:p>
            <a:r>
              <a:rPr lang="en-US" altLang="en-US" smtClean="0"/>
              <a:t>Only use </a:t>
            </a:r>
            <a:r>
              <a:rPr lang="en-US" altLang="en-US" smtClean="0">
                <a:latin typeface="Courier New" panose="02070309020205020404" pitchFamily="49" charset="0"/>
              </a:rPr>
              <a:t>delete</a:t>
            </a:r>
            <a:r>
              <a:rPr lang="en-US" altLang="en-US" smtClean="0"/>
              <a:t> with dynamic memory! </a:t>
            </a:r>
          </a:p>
        </p:txBody>
      </p:sp>
    </p:spTree>
    <p:extLst>
      <p:ext uri="{BB962C8B-B14F-4D97-AF65-F5344CB8AC3E}">
        <p14:creationId xmlns:p14="http://schemas.microsoft.com/office/powerpoint/2010/main" xmlns="" val="10981809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NULL pointer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34400" cy="4114800"/>
          </a:xfrm>
        </p:spPr>
        <p:txBody>
          <a:bodyPr/>
          <a:lstStyle/>
          <a:p>
            <a:r>
              <a:rPr lang="en-US" altLang="zh-TW" sz="2400" dirty="0">
                <a:ea typeface="新細明體" pitchFamily="18" charset="-120"/>
              </a:rPr>
              <a:t>NULL is a special value that indicates an empty pointer</a:t>
            </a:r>
          </a:p>
          <a:p>
            <a:r>
              <a:rPr lang="en-US" altLang="zh-TW" sz="2400" dirty="0">
                <a:ea typeface="新細明體" pitchFamily="18" charset="-120"/>
              </a:rPr>
              <a:t>If you try to access a NULL pointer, you will get an error</a:t>
            </a:r>
          </a:p>
          <a:p>
            <a:pPr>
              <a:buFont typeface="Monotype Sorts" pitchFamily="2" charset="2"/>
              <a:buNone/>
            </a:pPr>
            <a:r>
              <a:rPr lang="en-US" altLang="zh-TW" sz="2400" dirty="0">
                <a:ea typeface="新細明體" pitchFamily="18" charset="-120"/>
              </a:rPr>
              <a:t>		</a:t>
            </a:r>
            <a:r>
              <a:rPr lang="en-US" altLang="zh-TW" sz="2400" dirty="0" err="1">
                <a:latin typeface="Courier New" pitchFamily="49" charset="0"/>
                <a:ea typeface="新細明體" pitchFamily="18" charset="-120"/>
              </a:rPr>
              <a:t>int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 *p;</a:t>
            </a:r>
          </a:p>
          <a:p>
            <a:pPr>
              <a:buFont typeface="Monotype Sorts" pitchFamily="2" charset="2"/>
              <a:buNone/>
            </a:pP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		p = 0;	</a:t>
            </a:r>
          </a:p>
          <a:p>
            <a:pPr>
              <a:buFont typeface="Monotype Sorts" pitchFamily="2" charset="2"/>
              <a:buNone/>
            </a:pP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		</a:t>
            </a:r>
            <a:r>
              <a:rPr lang="en-US" altLang="zh-TW" sz="2400" dirty="0" err="1">
                <a:latin typeface="Courier New" pitchFamily="49" charset="0"/>
                <a:ea typeface="新細明體" pitchFamily="18" charset="-120"/>
              </a:rPr>
              <a:t>cout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 &lt;&lt; p &lt;&lt; </a:t>
            </a:r>
            <a:r>
              <a:rPr lang="en-US" altLang="zh-TW" sz="2400" dirty="0" err="1">
                <a:latin typeface="Courier New" pitchFamily="49" charset="0"/>
                <a:ea typeface="新細明體" pitchFamily="18" charset="-120"/>
              </a:rPr>
              <a:t>endl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; //prints 0</a:t>
            </a:r>
          </a:p>
          <a:p>
            <a:pPr>
              <a:buFont typeface="Monotype Sorts" pitchFamily="2" charset="2"/>
              <a:buNone/>
            </a:pP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		</a:t>
            </a:r>
            <a:r>
              <a:rPr lang="en-US" altLang="zh-TW" sz="2400" dirty="0" err="1">
                <a:latin typeface="Courier New" pitchFamily="49" charset="0"/>
                <a:ea typeface="新細明體" pitchFamily="18" charset="-120"/>
              </a:rPr>
              <a:t>cout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 &lt;&lt; &amp;p &lt;&lt; </a:t>
            </a:r>
            <a:r>
              <a:rPr lang="en-US" altLang="zh-TW" sz="2400" dirty="0" err="1">
                <a:latin typeface="Courier New" pitchFamily="49" charset="0"/>
                <a:ea typeface="新細明體" pitchFamily="18" charset="-120"/>
              </a:rPr>
              <a:t>endl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;//prints address of p </a:t>
            </a:r>
          </a:p>
          <a:p>
            <a:pPr>
              <a:buFont typeface="Monotype Sorts" pitchFamily="2" charset="2"/>
              <a:buNone/>
            </a:pP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		</a:t>
            </a:r>
            <a:r>
              <a:rPr lang="en-US" altLang="zh-TW" sz="2400" dirty="0" err="1">
                <a:latin typeface="Courier New" pitchFamily="49" charset="0"/>
                <a:ea typeface="新細明體" pitchFamily="18" charset="-120"/>
              </a:rPr>
              <a:t>cout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 &lt;&lt; *p &lt;&lt; </a:t>
            </a:r>
            <a:r>
              <a:rPr lang="en-US" altLang="zh-TW" sz="2400" dirty="0" err="1">
                <a:latin typeface="Courier New" pitchFamily="49" charset="0"/>
                <a:ea typeface="新細明體" pitchFamily="18" charset="-120"/>
              </a:rPr>
              <a:t>endl</a:t>
            </a:r>
            <a:r>
              <a:rPr lang="en-US" altLang="zh-TW" sz="2400" dirty="0">
                <a:latin typeface="Courier New" pitchFamily="49" charset="0"/>
                <a:ea typeface="新細明體" pitchFamily="18" charset="-120"/>
              </a:rPr>
              <a:t>;//Error!</a:t>
            </a:r>
          </a:p>
        </p:txBody>
      </p:sp>
    </p:spTree>
    <p:extLst>
      <p:ext uri="{BB962C8B-B14F-4D97-AF65-F5344CB8AC3E}">
        <p14:creationId xmlns:p14="http://schemas.microsoft.com/office/powerpoint/2010/main" xmlns="" val="325170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0" y="46038"/>
            <a:ext cx="8229600" cy="1143000"/>
          </a:xfrm>
        </p:spPr>
        <p:txBody>
          <a:bodyPr/>
          <a:lstStyle/>
          <a:p>
            <a:r>
              <a:rPr lang="en-US" altLang="en-US" sz="2800" dirty="0" smtClean="0"/>
              <a:t>Dynamic Memory Allocation in Program 9-14</a:t>
            </a:r>
          </a:p>
        </p:txBody>
      </p:sp>
      <p:sp>
        <p:nvSpPr>
          <p:cNvPr id="2" name="Rectangle 1"/>
          <p:cNvSpPr/>
          <p:nvPr/>
        </p:nvSpPr>
        <p:spPr>
          <a:xfrm>
            <a:off x="685800" y="1417638"/>
            <a:ext cx="7772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*sales =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total = 0;</a:t>
            </a:r>
          </a:p>
          <a:p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numDays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"How many days of sales figures do you </a:t>
            </a:r>
            <a:r>
              <a:rPr lang="en-US" dirty="0" smtClean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wish: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&gt;&gt;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numDays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sales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numDays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the sales figure 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nn-NO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numDays; i++)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cin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&gt;&gt; sales[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total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+= sales[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average = total /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numDays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"total:"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total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average:"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average;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709489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711"/>
            <a:ext cx="8229600" cy="1143000"/>
          </a:xfrm>
        </p:spPr>
        <p:txBody>
          <a:bodyPr/>
          <a:lstStyle/>
          <a:p>
            <a:r>
              <a:rPr lang="en-US" dirty="0" smtClean="0"/>
              <a:t>Lab : Pointer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324600" y="1752600"/>
            <a:ext cx="2362200" cy="42473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14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Jamie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David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Johnson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Kyle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Michael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Suzie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Carson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Liz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Sam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Harley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Alex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Peter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Tony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Cameron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3662" y="948690"/>
            <a:ext cx="596853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Create </a:t>
            </a:r>
            <a:r>
              <a:rPr lang="en-US" dirty="0"/>
              <a:t>a text file names studentName.txt 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Declare </a:t>
            </a:r>
            <a:r>
              <a:rPr lang="en-US" dirty="0"/>
              <a:t>string type pointer variable and allocate dynamic memory as many as the number of student which is read </a:t>
            </a:r>
            <a:r>
              <a:rPr lang="en-US" dirty="0" smtClean="0"/>
              <a:t>from the</a:t>
            </a:r>
            <a:r>
              <a:rPr lang="en-US" dirty="0"/>
              <a:t> text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Read </a:t>
            </a:r>
            <a:r>
              <a:rPr lang="en-US" dirty="0"/>
              <a:t>data from the text file and assign student names to the dynamic memory using while loop.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Display </a:t>
            </a:r>
            <a:r>
              <a:rPr lang="en-US" dirty="0"/>
              <a:t>all student names to the screen using for loop.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Receive </a:t>
            </a:r>
            <a:r>
              <a:rPr lang="en-US" dirty="0"/>
              <a:t>the student name from the standard input and then search for the name by invoking the function:</a:t>
            </a:r>
          </a:p>
          <a:p>
            <a:r>
              <a:rPr lang="en-US" b="1" i="1" dirty="0"/>
              <a:t> </a:t>
            </a:r>
            <a:r>
              <a:rPr lang="en-US" b="1" i="1" dirty="0" smtClean="0"/>
              <a:t>    </a:t>
            </a:r>
            <a:r>
              <a:rPr lang="en-US" b="1" i="1" dirty="0"/>
              <a:t> </a:t>
            </a:r>
            <a:r>
              <a:rPr lang="en-US" sz="1200" b="1" i="1" dirty="0"/>
              <a:t> void </a:t>
            </a:r>
            <a:r>
              <a:rPr lang="en-US" sz="1200" b="1" i="1" dirty="0" err="1"/>
              <a:t>getIndex</a:t>
            </a:r>
            <a:r>
              <a:rPr lang="en-US" sz="1200" b="1" i="1" dirty="0"/>
              <a:t>(string </a:t>
            </a:r>
            <a:r>
              <a:rPr lang="en-US" sz="1200" b="1" i="1" dirty="0" err="1"/>
              <a:t>studentArray</a:t>
            </a:r>
            <a:r>
              <a:rPr lang="en-US" sz="1200" b="1" i="1" dirty="0"/>
              <a:t>[], </a:t>
            </a:r>
            <a:r>
              <a:rPr lang="en-US" sz="1200" b="1" i="1" dirty="0" err="1"/>
              <a:t>int</a:t>
            </a:r>
            <a:r>
              <a:rPr lang="en-US" sz="1200" b="1" i="1" dirty="0"/>
              <a:t> </a:t>
            </a:r>
            <a:r>
              <a:rPr lang="en-US" sz="1200" b="1" i="1" dirty="0" err="1"/>
              <a:t>arraySize</a:t>
            </a:r>
            <a:r>
              <a:rPr lang="en-US" sz="1200" b="1" i="1" dirty="0"/>
              <a:t>, string </a:t>
            </a:r>
            <a:r>
              <a:rPr lang="en-US" sz="1200" b="1" i="1" dirty="0" err="1"/>
              <a:t>searchName</a:t>
            </a:r>
            <a:r>
              <a:rPr lang="en-US" sz="1200" b="1" i="1" dirty="0"/>
              <a:t>, </a:t>
            </a:r>
            <a:r>
              <a:rPr lang="en-US" sz="1200" b="1" i="1" dirty="0" err="1"/>
              <a:t>int</a:t>
            </a:r>
            <a:r>
              <a:rPr lang="en-US" sz="1200" b="1" i="1" dirty="0"/>
              <a:t> *index). </a:t>
            </a:r>
            <a:endParaRPr lang="en-US" sz="1200" b="1" i="1" dirty="0" smtClean="0"/>
          </a:p>
          <a:p>
            <a:r>
              <a:rPr lang="en-US" sz="1200" dirty="0"/>
              <a:t> </a:t>
            </a:r>
            <a:r>
              <a:rPr lang="en-US" sz="1200" dirty="0" smtClean="0"/>
              <a:t>     </a:t>
            </a:r>
            <a:r>
              <a:rPr lang="en-US" dirty="0" smtClean="0"/>
              <a:t>You</a:t>
            </a:r>
            <a:r>
              <a:rPr lang="en-US" dirty="0"/>
              <a:t> need to create this function.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If </a:t>
            </a:r>
            <a:r>
              <a:rPr lang="en-US" dirty="0"/>
              <a:t>this </a:t>
            </a:r>
            <a:r>
              <a:rPr lang="en-US" dirty="0" err="1"/>
              <a:t>searchName</a:t>
            </a:r>
            <a:r>
              <a:rPr lang="en-US" dirty="0"/>
              <a:t> is found in the allocated structure, display the index number to the screen. otherwise, display “Not Found” to the screen. Repeat this until </a:t>
            </a:r>
            <a:r>
              <a:rPr lang="en-US" dirty="0" smtClean="0"/>
              <a:t>user enters </a:t>
            </a:r>
            <a:r>
              <a:rPr lang="en-US" dirty="0"/>
              <a:t>'Quit'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Close </a:t>
            </a:r>
            <a:r>
              <a:rPr lang="en-US" dirty="0"/>
              <a:t>the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release</a:t>
            </a:r>
            <a:r>
              <a:rPr lang="en-US" dirty="0"/>
              <a:t> the dynamic memory using delete operator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324600" y="1400453"/>
            <a:ext cx="17707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 smtClean="0"/>
              <a:t>studentName.txt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xmlns="" val="151217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1680</Words>
  <Application>Microsoft Office PowerPoint</Application>
  <PresentationFormat>On-screen Show (4:3)</PresentationFormat>
  <Paragraphs>638</Paragraphs>
  <Slides>32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Slide 1</vt:lpstr>
      <vt:lpstr>Computer Memory</vt:lpstr>
      <vt:lpstr>Pointers</vt:lpstr>
      <vt:lpstr>Pointer Types</vt:lpstr>
      <vt:lpstr>Pointer Variable</vt:lpstr>
      <vt:lpstr>Address Operator &amp;</vt:lpstr>
      <vt:lpstr>Address Operator &amp;</vt:lpstr>
      <vt:lpstr>Pointer Variables</vt:lpstr>
      <vt:lpstr> Dereferencing Operator *</vt:lpstr>
      <vt:lpstr>A Pointer Example</vt:lpstr>
      <vt:lpstr>Don’t get confused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What is the output?</vt:lpstr>
      <vt:lpstr>Slide 22</vt:lpstr>
      <vt:lpstr>Function with Pointer variable passing</vt:lpstr>
      <vt:lpstr>Function with Pointer variable passing</vt:lpstr>
      <vt:lpstr>Function with Pointer variable passing</vt:lpstr>
      <vt:lpstr>Function with Pointer variable passing</vt:lpstr>
      <vt:lpstr>Dynamic Memory Allocation</vt:lpstr>
      <vt:lpstr>Dynamic Memory Allocation</vt:lpstr>
      <vt:lpstr>Releasing Dynamic Memory</vt:lpstr>
      <vt:lpstr>NULL pointer</vt:lpstr>
      <vt:lpstr>Dynamic Memory Allocation in Program 9-14</vt:lpstr>
      <vt:lpstr>Lab : Pointer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Hoisan Kim</dc:creator>
  <cp:lastModifiedBy>PR0GR4MM3R PR0GR4M</cp:lastModifiedBy>
  <cp:revision>70</cp:revision>
  <dcterms:created xsi:type="dcterms:W3CDTF">2013-08-09T20:17:14Z</dcterms:created>
  <dcterms:modified xsi:type="dcterms:W3CDTF">2015-10-28T18:37:39Z</dcterms:modified>
</cp:coreProperties>
</file>